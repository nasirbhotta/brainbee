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4039" r:id="rId1"/>
  </p:sldMasterIdLst>
  <p:notesMasterIdLst>
    <p:notesMasterId r:id="rId66"/>
  </p:notesMasterIdLst>
  <p:sldIdLst>
    <p:sldId id="281" r:id="rId2"/>
    <p:sldId id="256" r:id="rId3"/>
    <p:sldId id="257" r:id="rId4"/>
    <p:sldId id="258" r:id="rId5"/>
    <p:sldId id="347" r:id="rId6"/>
    <p:sldId id="264" r:id="rId7"/>
    <p:sldId id="265" r:id="rId8"/>
    <p:sldId id="266" r:id="rId9"/>
    <p:sldId id="267" r:id="rId10"/>
    <p:sldId id="268" r:id="rId11"/>
    <p:sldId id="269" r:id="rId12"/>
    <p:sldId id="270" r:id="rId13"/>
    <p:sldId id="282" r:id="rId14"/>
    <p:sldId id="271" r:id="rId15"/>
    <p:sldId id="272" r:id="rId16"/>
    <p:sldId id="283" r:id="rId17"/>
    <p:sldId id="273" r:id="rId18"/>
    <p:sldId id="274" r:id="rId19"/>
    <p:sldId id="275" r:id="rId20"/>
    <p:sldId id="361" r:id="rId21"/>
    <p:sldId id="349" r:id="rId22"/>
    <p:sldId id="362" r:id="rId23"/>
    <p:sldId id="363" r:id="rId24"/>
    <p:sldId id="364" r:id="rId25"/>
    <p:sldId id="365" r:id="rId26"/>
    <p:sldId id="366" r:id="rId27"/>
    <p:sldId id="367" r:id="rId28"/>
    <p:sldId id="368" r:id="rId29"/>
    <p:sldId id="369" r:id="rId30"/>
    <p:sldId id="370" r:id="rId31"/>
    <p:sldId id="371" r:id="rId32"/>
    <p:sldId id="372" r:id="rId33"/>
    <p:sldId id="373" r:id="rId34"/>
    <p:sldId id="374" r:id="rId35"/>
    <p:sldId id="375" r:id="rId36"/>
    <p:sldId id="376" r:id="rId37"/>
    <p:sldId id="377" r:id="rId38"/>
    <p:sldId id="378" r:id="rId39"/>
    <p:sldId id="379" r:id="rId40"/>
    <p:sldId id="380" r:id="rId41"/>
    <p:sldId id="381" r:id="rId42"/>
    <p:sldId id="382" r:id="rId43"/>
    <p:sldId id="383" r:id="rId44"/>
    <p:sldId id="384" r:id="rId45"/>
    <p:sldId id="385" r:id="rId46"/>
    <p:sldId id="386" r:id="rId47"/>
    <p:sldId id="387" r:id="rId48"/>
    <p:sldId id="389" r:id="rId49"/>
    <p:sldId id="388" r:id="rId50"/>
    <p:sldId id="390" r:id="rId51"/>
    <p:sldId id="391" r:id="rId52"/>
    <p:sldId id="392" r:id="rId53"/>
    <p:sldId id="393" r:id="rId54"/>
    <p:sldId id="394" r:id="rId55"/>
    <p:sldId id="395" r:id="rId56"/>
    <p:sldId id="396" r:id="rId57"/>
    <p:sldId id="397" r:id="rId58"/>
    <p:sldId id="398" r:id="rId59"/>
    <p:sldId id="399" r:id="rId60"/>
    <p:sldId id="400" r:id="rId61"/>
    <p:sldId id="401" r:id="rId62"/>
    <p:sldId id="403" r:id="rId63"/>
    <p:sldId id="402" r:id="rId64"/>
    <p:sldId id="348" r:id="rId65"/>
  </p:sldIdLst>
  <p:sldSz cx="14630400" cy="8229600"/>
  <p:notesSz cx="8229600" cy="14630400"/>
  <p:embeddedFontLst>
    <p:embeddedFont>
      <p:font typeface="Gill Sans MT" panose="020B0502020104020203" pitchFamily="34" charset="0"/>
      <p:regular r:id="rId67"/>
      <p:bold r:id="rId68"/>
      <p:italic r:id="rId69"/>
      <p:boldItalic r:id="rId70"/>
    </p:embeddedFont>
    <p:embeddedFont>
      <p:font typeface="Montserrat Bold" panose="020B0604020202020204" charset="0"/>
      <p:bold r:id="rId71"/>
    </p:embeddedFont>
    <p:embeddedFont>
      <p:font typeface="Open Sans" panose="020B0606030504020204" pitchFamily="34" charset="0"/>
      <p:regular r:id="rId72"/>
      <p:bold r:id="rId73"/>
      <p:italic r:id="rId74"/>
      <p:boldItalic r:id="rId75"/>
    </p:embeddedFont>
    <p:embeddedFont>
      <p:font typeface="Source Sans Pro" panose="020B0503030403020204" pitchFamily="34" charset="0"/>
      <p:regular r:id="rId76"/>
      <p:bold r:id="rId77"/>
      <p:italic r:id="rId78"/>
      <p:boldItalic r:id="rId79"/>
    </p:embeddedFont>
    <p:embeddedFont>
      <p:font typeface="Times" panose="02020603050405020304" pitchFamily="18" charset="0"/>
      <p:regular r:id="rId80"/>
      <p:bold r:id="rId81"/>
      <p:italic r:id="rId82"/>
      <p:boldItalic r:id="rId8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11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2.fntdata"/><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8.fntdata"/><Relationship Id="rId79" Type="http://schemas.openxmlformats.org/officeDocument/2006/relationships/font" Target="fonts/font13.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77"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 Id="rId80" Type="http://schemas.openxmlformats.org/officeDocument/2006/relationships/font" Target="fonts/font14.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font" Target="fonts/font9.fntdata"/><Relationship Id="rId83"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7.fntdata"/><Relationship Id="rId78" Type="http://schemas.openxmlformats.org/officeDocument/2006/relationships/font" Target="fonts/font12.fntdata"/><Relationship Id="rId81" Type="http://schemas.openxmlformats.org/officeDocument/2006/relationships/font" Target="fonts/font15.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0.fntdata"/><Relationship Id="rId7" Type="http://schemas.openxmlformats.org/officeDocument/2006/relationships/slide" Target="slides/slide6.xml"/><Relationship Id="rId71"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notesMaster" Target="notesMasters/notesMaster1.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0037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a0fffe3729_0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a0fffe3729_0_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EA96E-280B-9F99-CDD5-902D384D2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CAB3F-6DC6-0456-405F-F2BDEBBFC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3FA81C-FEE7-B8A7-AB78-0C77E1B771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3538EC-5345-8604-ED3B-D5E83DCB967E}"/>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34494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3CD1E-0361-F074-BA22-69AFEF84A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02A97-4B34-8B4F-5460-E3A787A0B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3C1FC-AE2F-31F0-209A-CFAB4D0CF8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4FA339-4CBD-D229-51EB-4BF2B16559DC}"/>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14294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CB59B-0203-D348-DCEC-055EDE6029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02234-59A4-230B-D0C9-14B9524AD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EE2B14-AEAB-E860-FB6E-A103E3D90F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F1A009-18A1-B730-F1EC-EF2B241F82C4}"/>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319984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FC32A-2AFF-8F8F-E27F-7E7E58B10E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DED6FA-2DEC-5397-1177-4C498A61FC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61DF2D-0088-62AC-E259-2292A81EE2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1BD8E9-1A50-CDE2-C863-DCAED331CE6E}"/>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341377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8A7C3-FF70-3765-28BB-78C0DB7E9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FDDAE7-851F-1A73-52B4-AAEF2264C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C81DBA-EBB9-8429-4F87-D15406BBC6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F2F932-8783-1641-82C1-41C04BC83B20}"/>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7014872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90A0F-C0B2-643E-E455-6E0115364D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E4264-10EF-C05C-4F0C-2CE3BAFD0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A10B9F-A4EA-E5F2-D10C-92849538FA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301699-D861-BFA4-EB70-8A76EBB6FCB1}"/>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258939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DF7DE-09D1-4BEE-BE54-8CF918123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464FBB-8E90-F0AD-62CE-1B8F6EB450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C8889-FB6D-75AF-2C6E-F5A763AE28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743307-9C2E-CDD5-D6DC-0A58E2B78EE1}"/>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227180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CF3DB-848D-0AAD-A82A-4B9D3C438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9293D-6969-720E-7F9F-439341EA66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031809-9C3A-EA65-4844-D4819BC1BE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B4F04D-8873-D34D-B61E-A66F1B0C5207}"/>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13848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435F6-51AD-EC01-46E3-65D3E9637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C9C102-D3EE-3997-5DEE-F307CC9ECB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761DA1-FF5F-358E-A65D-D96B5F1D68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649BD0-0D5B-C6A3-CBFB-09B753388E7C}"/>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6051042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A8A4F-396A-C952-A5B9-931537CB9D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1D56A-88E6-C9E4-018D-BEC766398F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CD174-4FA8-4F40-028F-29B77355D0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87F8F7-BD98-6AFB-A71F-47AF01ABE811}"/>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6421215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10B83-D0E2-4EFF-C8B8-8ADC8DADC3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5FC674-B3DD-06C2-661A-ABAE64D16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34717-5633-72D4-99E9-F42841EC1E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AC977F-33AE-C0EB-CFD3-539047AB01DA}"/>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6047206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0EB4-0B5F-96A1-1A2F-25E7457EE8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40414-5DCA-6251-22EE-C17A36C29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4F431-018E-1372-0E0D-A841F05052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03C5C2-DB53-6308-C6FE-62C83C75DC5D}"/>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3802537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6CD83-74D9-6D78-11F4-9DECE61C1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CB5714-546B-928E-8D9E-BE7B624D5E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E746BC-1112-8211-FF87-3A49719FD3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2B4D1C-1C17-B366-E616-351DB8376568}"/>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5550868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2C3F-0F9D-8C0E-9892-FD6E803F6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76528-131F-6C24-140C-562527E9B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AD7DB-670E-B793-9BA6-ADFDD2C543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73979F-3C5C-FE97-9953-EB4D9D647772}"/>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41902674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3B846-4674-6CD2-DB81-6BFE0F6A2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760044-2DD5-86CA-1C28-FC1E2F8C0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9FE5FF-8E18-4518-FD7F-471DBFE2DB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ED0DF5-6E99-486E-E7ED-8198D8C92A15}"/>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2606889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C25A4-7A7D-F090-4C8E-4D776175BD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B6BC8-CE28-0449-A34B-F995D33AAF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F94EB-88EA-A421-5FF5-D5EBAF59CE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4191E3-9D18-B206-A9CA-6FDB45E3ACE6}"/>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529284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458E0-A08E-BC08-60BF-99029A460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2AC44-7936-C0D6-51DA-52012AA6C0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5A0B1-3D0D-C80D-58BF-F2043BBCC2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65231E-B345-368E-EFDF-0AF6A5C0199F}"/>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2585486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43854-A2D7-51C6-4714-CCD9BB36D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9FA1B-7F02-6B31-9E16-5D49EFB7E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9B3861-7E36-C223-2F07-5BE60F3220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813449-F22E-5B55-77D0-9D7A2A6ACE59}"/>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0498518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C596D-2BF6-4990-F4AF-92E22F1395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347652-3856-439B-BC36-7BE65B29B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62F5E-C48B-CF23-5FCA-1A54F40DC0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03C92A-585B-62B9-4177-2AC39F7D39AA}"/>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32490496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D758C-2E08-F4CB-EECC-F360E2C9F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1B06B-90A8-382D-40F3-51A5151B91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CE13C5-9F36-0A42-2959-E2D788CBC9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567027-0651-CFD0-7465-62A5F149C4FB}"/>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21201758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3A4C9-850B-6310-B136-3E5DD38B7B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E721CA-D1A4-CE45-6B62-C9DCCD8F37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017DF5-63C1-D05C-C1D1-13B76BAFD4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02D943-60F2-EA88-2B0A-157B972ED408}"/>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37602067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20A9D-0470-CB52-CE05-2FB082924B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790CDE-A9A4-394A-31D2-9D0779EB8C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1913DE-51C0-27E6-0C41-FBDB6CB45A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3C38E3-BC12-B480-386E-DE876D18642E}"/>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2159935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E6EBA-9414-7459-6BE2-CF12059EB2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8EC00-1D22-84E8-49BA-E9173C385D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BE0AC7-6BD4-ADAF-C997-F28148A473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D8F6D5-1543-0051-ADD3-606E48014588}"/>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4573723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FB4EB-6BF7-BADA-B4C4-7B9D62A97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CFC9A4-1C01-5BFD-2D12-9CEE08711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DEB1BF-909C-EE6C-02D9-3C26A24E1B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D0032F-4C86-CC72-61AE-E96858EF05EE}"/>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24617651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E23A5-FBA5-335C-3E9E-642FA10B6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64DCD-93FE-1FBD-0CCD-D4D82BD89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D226D-1FA2-95DA-1FC7-9A89F12F87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AD56E6-84FC-88F0-F700-79C7D083E232}"/>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38713999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9BF77-E9FE-5AEE-E0A2-1E91C791E5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E077A-DBC3-3F63-01D6-80018119F4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358D16-5168-619D-4A80-28FFF19547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C6587F-4291-2C2B-EE67-1E25014C32DE}"/>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82017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AA121-CBAE-029C-1F6C-DCD015959A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54A00-9F1D-E8C2-B42B-14515D5F4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EEB0D8-1C69-1165-D86B-D1CED0364D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3E6187-0F30-4E2B-1EA3-FBF3DDD1F580}"/>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6957097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214CF-41E9-0259-7B78-04EDC7747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3E0886-B484-8D54-1EC2-75AA4F694C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341945-CA7D-40D7-43E4-086F0B3706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D5175F-6048-BD97-629E-10F8ECF4B49E}"/>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30408885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14177-4F8B-2A08-E05A-7E70440DC8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E528E-C55E-9A78-B375-A9A9A68A0D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C3B98-C1F1-ABB2-A9F5-E81B76B18E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F6BC47-F754-EE58-23A8-C2D100FF1432}"/>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35662006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3B43A-DB8F-4C86-ECC7-C306EE634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EA6EB-36D1-5E77-3284-34CFB2B77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9EB23C-5721-E195-67C9-C5D4F158A6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6BEAF0-6C16-756D-417F-71AF83FA605A}"/>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30797780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51572-7EB2-A4DE-9CBF-44FBB38B6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CAEE5-23DE-0634-3881-768BF24E37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20CDC-33FE-1630-74E5-2AA32F26A7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5FB36C-FF3B-9CDA-7B60-A8530BF669D6}"/>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27537474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A81FD-5F78-7FA6-D3B7-CDB5193EB0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0280D-2122-AC45-F530-655F2FD278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AFE51-F88F-D696-DE04-982C2D0744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D7266A-D5DB-C8AD-D3A9-AF6B2D0139E7}"/>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22581627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0C669-A1E8-4957-2D79-258808F29D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6794E-6FB9-EA40-3FD6-D5ED4BD05A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EFFF10-8AE8-C890-753F-72E34EEFE0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1EE9CD-2C68-BDC2-2AB5-EB55E75B738F}"/>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5190373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0C27B-E200-8BF9-C3F3-EF7179973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C1EFA-9B2E-B367-423B-C9463C14E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E9A27-ED88-D12D-E521-B27E084EEE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0B3630-BF2D-1B06-6875-DEAD39A1F5FB}"/>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24364581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0BD58-D880-B4ED-3F78-1D4EB22EA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15F84-B36F-85E1-2849-2DCE713277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A0DB19-D059-0F21-1AE4-A18A185A2D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652EF6-543D-D4DC-B3DA-79FC11A9548C}"/>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2067815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ED371-7A68-EA1C-78C0-61AAC3AB0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F23FB-FF54-D892-BFBA-597B8C83CA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4031C8-6594-5B4B-749D-1C8EDA6A82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BCE6C4-5883-7B58-DC97-DA0DFAF7D9D8}"/>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34079049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B5128-73B5-EF30-9D47-E40185F84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A8C30-8305-A5A6-8782-8DCF9B28F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332C5-3B51-1912-847C-959C40794B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FF6400-8EAC-319F-D8E6-91601FC4E7E0}"/>
              </a:ext>
            </a:extLst>
          </p:cNvPr>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38091973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8ca35c373a_0_44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8ca35c373a_0_448: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901335" y="962758"/>
            <a:ext cx="10364488" cy="3049717"/>
          </a:xfrm>
        </p:spPr>
        <p:txBody>
          <a:bodyPr bIns="0" anchor="b">
            <a:normAutofit/>
          </a:bodyPr>
          <a:lstStyle>
            <a:lvl1pPr algn="l">
              <a:defRPr sz="7920"/>
            </a:lvl1pPr>
          </a:lstStyle>
          <a:p>
            <a:r>
              <a:rPr lang="en-US"/>
              <a:t>Click to edit Master title style</a:t>
            </a:r>
            <a:endParaRPr lang="en-US" dirty="0"/>
          </a:p>
        </p:txBody>
      </p:sp>
      <p:sp>
        <p:nvSpPr>
          <p:cNvPr id="3" name="Subtitle 2"/>
          <p:cNvSpPr>
            <a:spLocks noGrp="1"/>
          </p:cNvSpPr>
          <p:nvPr>
            <p:ph type="subTitle" idx="1"/>
          </p:nvPr>
        </p:nvSpPr>
        <p:spPr>
          <a:xfrm>
            <a:off x="2901336" y="4237446"/>
            <a:ext cx="10364486" cy="1173145"/>
          </a:xfrm>
        </p:spPr>
        <p:txBody>
          <a:bodyPr tIns="91440" bIns="91440">
            <a:normAutofit/>
          </a:bodyPr>
          <a:lstStyle>
            <a:lvl1pPr marL="0" indent="0" algn="l">
              <a:buNone/>
              <a:defRPr sz="2160" b="0" cap="all" baseline="0">
                <a:solidFill>
                  <a:schemeClr val="tx1"/>
                </a:solidFill>
              </a:defRPr>
            </a:lvl1pPr>
            <a:lvl2pPr marL="548640" indent="0" algn="ctr">
              <a:buNone/>
              <a:defRPr sz="216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5/25/2025</a:t>
            </a:fld>
            <a:endParaRPr lang="en-US" dirty="0"/>
          </a:p>
        </p:txBody>
      </p:sp>
      <p:sp>
        <p:nvSpPr>
          <p:cNvPr id="5" name="Footer Placeholder 4"/>
          <p:cNvSpPr>
            <a:spLocks noGrp="1"/>
          </p:cNvSpPr>
          <p:nvPr>
            <p:ph type="ftr" sz="quarter" idx="11"/>
          </p:nvPr>
        </p:nvSpPr>
        <p:spPr>
          <a:xfrm>
            <a:off x="2899801" y="395169"/>
            <a:ext cx="5968698" cy="371041"/>
          </a:xfrm>
        </p:spPr>
        <p:txBody>
          <a:bodyPr/>
          <a:lstStyle/>
          <a:p>
            <a:endParaRPr lang="en-US" dirty="0"/>
          </a:p>
        </p:txBody>
      </p:sp>
      <p:sp>
        <p:nvSpPr>
          <p:cNvPr id="6" name="Slide Number Placeholder 5"/>
          <p:cNvSpPr>
            <a:spLocks noGrp="1"/>
          </p:cNvSpPr>
          <p:nvPr>
            <p:ph type="sldNum" sz="quarter" idx="12"/>
          </p:nvPr>
        </p:nvSpPr>
        <p:spPr>
          <a:xfrm>
            <a:off x="1725197" y="958767"/>
            <a:ext cx="973223" cy="604294"/>
          </a:xfrm>
        </p:spPr>
        <p:txBody>
          <a:bodyPr/>
          <a:lstStyle/>
          <a:p>
            <a:fld id="{6D22F896-40B5-4ADD-8801-0D06FADFA095}" type="slidenum">
              <a:rPr lang="en-US" smtClean="0"/>
              <a:t>‹#›</a:t>
            </a:fld>
            <a:endParaRPr lang="en-US" dirty="0"/>
          </a:p>
        </p:txBody>
      </p:sp>
      <p:cxnSp>
        <p:nvCxnSpPr>
          <p:cNvPr id="15" name="Straight Connector 14"/>
          <p:cNvCxnSpPr/>
          <p:nvPr/>
        </p:nvCxnSpPr>
        <p:spPr>
          <a:xfrm>
            <a:off x="2901336" y="4234250"/>
            <a:ext cx="1036448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136522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33" name="Straight Connector 32"/>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1580480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45087" y="2107356"/>
            <a:ext cx="10371785" cy="2265540"/>
          </a:xfrm>
        </p:spPr>
        <p:txBody>
          <a:bodyPr anchor="b">
            <a:normAutofit/>
          </a:bodyPr>
          <a:lstStyle>
            <a:lvl1pPr algn="l">
              <a:defRPr sz="4320"/>
            </a:lvl1pPr>
          </a:lstStyle>
          <a:p>
            <a:r>
              <a:rPr lang="en-US"/>
              <a:t>Click to edit Master title style</a:t>
            </a:r>
            <a:endParaRPr lang="en-US" dirty="0"/>
          </a:p>
        </p:txBody>
      </p:sp>
      <p:sp>
        <p:nvSpPr>
          <p:cNvPr id="3" name="Text Placeholder 2"/>
          <p:cNvSpPr>
            <a:spLocks noGrp="1"/>
          </p:cNvSpPr>
          <p:nvPr>
            <p:ph type="body" idx="1"/>
          </p:nvPr>
        </p:nvSpPr>
        <p:spPr>
          <a:xfrm>
            <a:off x="1745087" y="4567435"/>
            <a:ext cx="10356535" cy="1215515"/>
          </a:xfrm>
        </p:spPr>
        <p:txBody>
          <a:bodyPr tIns="91440">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5/25/2025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5" name="Straight Connector 14"/>
          <p:cNvCxnSpPr/>
          <p:nvPr/>
        </p:nvCxnSpPr>
        <p:spPr>
          <a:xfrm>
            <a:off x="1745087" y="4565982"/>
            <a:ext cx="103565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4206297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739061" y="965867"/>
            <a:ext cx="11526762" cy="127116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736797" y="2413054"/>
            <a:ext cx="5574182" cy="41383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96525" y="2420812"/>
            <a:ext cx="5574182" cy="41298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35" name="Straight Connector 34"/>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9677995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36630" y="964996"/>
            <a:ext cx="11529193" cy="126758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36629" y="2423459"/>
            <a:ext cx="5574182" cy="962332"/>
          </a:xfrm>
        </p:spPr>
        <p:txBody>
          <a:bodyPr anchor="b">
            <a:normAutofit/>
          </a:bodyPr>
          <a:lstStyle>
            <a:lvl1pPr marL="0" indent="0">
              <a:lnSpc>
                <a:spcPct val="100000"/>
              </a:lnSpc>
              <a:buNone/>
              <a:defRPr sz="2640" b="0" cap="all" baseline="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736629" y="3389124"/>
            <a:ext cx="5574182" cy="31733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94835" y="2427604"/>
            <a:ext cx="5574182" cy="962684"/>
          </a:xfrm>
        </p:spPr>
        <p:txBody>
          <a:bodyPr anchor="b">
            <a:normAutofit/>
          </a:bodyPr>
          <a:lstStyle>
            <a:lvl1pPr marL="0" indent="0">
              <a:lnSpc>
                <a:spcPct val="100000"/>
              </a:lnSpc>
              <a:buNone/>
              <a:defRPr sz="2640" b="0" cap="all" baseline="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694835" y="3385790"/>
            <a:ext cx="5574182" cy="31648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cxnSp>
        <p:nvCxnSpPr>
          <p:cNvPr id="29" name="Straight Connector 28"/>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0966021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cxnSp>
        <p:nvCxnSpPr>
          <p:cNvPr id="25" name="Straight Connector 24"/>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5791841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5696386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3606" y="958768"/>
            <a:ext cx="3927719" cy="2696540"/>
          </a:xfrm>
        </p:spPr>
        <p:txBody>
          <a:bodyPr anchor="b">
            <a:normAutofit/>
          </a:bodyPr>
          <a:lstStyle>
            <a:lvl1pPr algn="l">
              <a:defRPr sz="2880"/>
            </a:lvl1pPr>
          </a:lstStyle>
          <a:p>
            <a:r>
              <a:rPr lang="en-US"/>
              <a:t>Click to edit Master title style</a:t>
            </a:r>
            <a:endParaRPr lang="en-US" dirty="0"/>
          </a:p>
        </p:txBody>
      </p:sp>
      <p:sp>
        <p:nvSpPr>
          <p:cNvPr id="3" name="Content Placeholder 2"/>
          <p:cNvSpPr>
            <a:spLocks noGrp="1"/>
          </p:cNvSpPr>
          <p:nvPr>
            <p:ph idx="1"/>
          </p:nvPr>
        </p:nvSpPr>
        <p:spPr>
          <a:xfrm>
            <a:off x="6052457" y="958769"/>
            <a:ext cx="7214964" cy="559059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33606" y="3846590"/>
            <a:ext cx="3930016" cy="2697817"/>
          </a:xfrm>
        </p:spPr>
        <p:txBody>
          <a:bodyPr/>
          <a:lstStyle>
            <a:lvl1pPr marL="0" indent="0" algn="l">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17" name="Straight Connector 16"/>
          <p:cNvCxnSpPr/>
          <p:nvPr/>
        </p:nvCxnSpPr>
        <p:spPr>
          <a:xfrm>
            <a:off x="1737936" y="3846589"/>
            <a:ext cx="392338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2780105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8972865" y="578605"/>
            <a:ext cx="4889440" cy="617892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741447" y="1355416"/>
            <a:ext cx="6638794" cy="2196701"/>
          </a:xfrm>
        </p:spPr>
        <p:txBody>
          <a:bodyPr anchor="b">
            <a:normAutofit/>
          </a:bodyPr>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9749268" y="1347051"/>
            <a:ext cx="3349405" cy="4639592"/>
          </a:xfrm>
          <a:solidFill>
            <a:schemeClr val="bg1">
              <a:lumMod val="85000"/>
            </a:schemeClr>
          </a:solidFill>
          <a:ln w="9525" cap="sq">
            <a:noFill/>
            <a:miter lim="800000"/>
          </a:ln>
          <a:effectLst/>
        </p:spPr>
        <p:txBody>
          <a:bodyPr anchor="t"/>
          <a:lstStyle>
            <a:lvl1pPr marL="0" indent="0" algn="ctr">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740395" y="3775191"/>
            <a:ext cx="6629285" cy="2404490"/>
          </a:xfrm>
        </p:spPr>
        <p:txBody>
          <a:bodyPr>
            <a:normAutofit/>
          </a:bodyPr>
          <a:lstStyle>
            <a:lvl1pPr marL="0" indent="0" algn="l">
              <a:buNone/>
              <a:defRPr sz="216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a:xfrm>
            <a:off x="1736859" y="6563828"/>
            <a:ext cx="6632821" cy="384148"/>
          </a:xfrm>
        </p:spPr>
        <p:txBody>
          <a:bodyPr/>
          <a:lstStyle>
            <a:lvl1pPr algn="l">
              <a:defRPr/>
            </a:lvl1pPr>
          </a:lstStyle>
          <a:p>
            <a:fld id="{48A87A34-81AB-432B-8DAE-1953F412C126}" type="datetimeFigureOut">
              <a:rPr lang="en-US" smtClean="0"/>
              <a:pPr/>
              <a:t>5/25/2025</a:t>
            </a:fld>
            <a:endParaRPr lang="en-US" dirty="0"/>
          </a:p>
        </p:txBody>
      </p:sp>
      <p:sp>
        <p:nvSpPr>
          <p:cNvPr id="6" name="Footer Placeholder 5"/>
          <p:cNvSpPr>
            <a:spLocks noGrp="1"/>
          </p:cNvSpPr>
          <p:nvPr>
            <p:ph type="ftr" sz="quarter" idx="11"/>
          </p:nvPr>
        </p:nvSpPr>
        <p:spPr>
          <a:xfrm>
            <a:off x="1736858" y="382369"/>
            <a:ext cx="6649205" cy="385117"/>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31" name="Straight Connector 30"/>
          <p:cNvCxnSpPr/>
          <p:nvPr/>
        </p:nvCxnSpPr>
        <p:spPr>
          <a:xfrm>
            <a:off x="1736859" y="3772326"/>
            <a:ext cx="663282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6139357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26" name="Straight Connector 25"/>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69597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326933" y="958768"/>
            <a:ext cx="1938890" cy="559186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733606" y="958768"/>
            <a:ext cx="9394596" cy="55918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5" name="Straight Connector 14"/>
          <p:cNvCxnSpPr/>
          <p:nvPr/>
        </p:nvCxnSpPr>
        <p:spPr>
          <a:xfrm>
            <a:off x="11326933" y="958768"/>
            <a:ext cx="0" cy="559186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225518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29051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44068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85797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96089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30911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49864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27598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1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18692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1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42977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27746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1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19045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1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04949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1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25934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1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87705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2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33610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5"/>
        <p:cNvGrpSpPr/>
        <p:nvPr/>
      </p:nvGrpSpPr>
      <p:grpSpPr>
        <a:xfrm>
          <a:off x="0" y="0"/>
          <a:ext cx="0" cy="0"/>
          <a:chOff x="0" y="0"/>
          <a:chExt cx="0" cy="0"/>
        </a:xfrm>
      </p:grpSpPr>
      <p:sp>
        <p:nvSpPr>
          <p:cNvPr id="37" name="Google Shape;37;p8"/>
          <p:cNvSpPr txBox="1">
            <a:spLocks noGrp="1"/>
          </p:cNvSpPr>
          <p:nvPr>
            <p:ph type="title"/>
          </p:nvPr>
        </p:nvSpPr>
        <p:spPr>
          <a:xfrm>
            <a:off x="4095563" y="2485440"/>
            <a:ext cx="6439200" cy="3258720"/>
          </a:xfrm>
          <a:prstGeom prst="rect">
            <a:avLst/>
          </a:prstGeom>
        </p:spPr>
        <p:txBody>
          <a:bodyPr spcFirstLastPara="1" wrap="square" lIns="91425" tIns="91425" rIns="91425" bIns="91425" anchor="ctr" anchorCtr="0">
            <a:noAutofit/>
          </a:bodyPr>
          <a:lstStyle>
            <a:lvl1pPr lvl="0" algn="ctr">
              <a:spcBef>
                <a:spcPts val="0"/>
              </a:spcBef>
              <a:spcAft>
                <a:spcPts val="0"/>
              </a:spcAft>
              <a:buSzPts val="7000"/>
              <a:buNone/>
              <a:defRPr sz="11202"/>
            </a:lvl1pPr>
            <a:lvl2pPr lvl="1" algn="ctr">
              <a:spcBef>
                <a:spcPts val="0"/>
              </a:spcBef>
              <a:spcAft>
                <a:spcPts val="0"/>
              </a:spcAft>
              <a:buSzPts val="7000"/>
              <a:buNone/>
              <a:defRPr sz="11202"/>
            </a:lvl2pPr>
            <a:lvl3pPr lvl="2" algn="ctr">
              <a:spcBef>
                <a:spcPts val="0"/>
              </a:spcBef>
              <a:spcAft>
                <a:spcPts val="0"/>
              </a:spcAft>
              <a:buSzPts val="7000"/>
              <a:buNone/>
              <a:defRPr sz="11202"/>
            </a:lvl3pPr>
            <a:lvl4pPr lvl="3" algn="ctr">
              <a:spcBef>
                <a:spcPts val="0"/>
              </a:spcBef>
              <a:spcAft>
                <a:spcPts val="0"/>
              </a:spcAft>
              <a:buSzPts val="7000"/>
              <a:buNone/>
              <a:defRPr sz="11202"/>
            </a:lvl4pPr>
            <a:lvl5pPr lvl="4" algn="ctr">
              <a:spcBef>
                <a:spcPts val="0"/>
              </a:spcBef>
              <a:spcAft>
                <a:spcPts val="0"/>
              </a:spcAft>
              <a:buSzPts val="7000"/>
              <a:buNone/>
              <a:defRPr sz="11202"/>
            </a:lvl5pPr>
            <a:lvl6pPr lvl="5" algn="ctr">
              <a:spcBef>
                <a:spcPts val="0"/>
              </a:spcBef>
              <a:spcAft>
                <a:spcPts val="0"/>
              </a:spcAft>
              <a:buSzPts val="7000"/>
              <a:buNone/>
              <a:defRPr sz="11202"/>
            </a:lvl6pPr>
            <a:lvl7pPr lvl="6" algn="ctr">
              <a:spcBef>
                <a:spcPts val="0"/>
              </a:spcBef>
              <a:spcAft>
                <a:spcPts val="0"/>
              </a:spcAft>
              <a:buSzPts val="7000"/>
              <a:buNone/>
              <a:defRPr sz="11202"/>
            </a:lvl7pPr>
            <a:lvl8pPr lvl="7" algn="ctr">
              <a:spcBef>
                <a:spcPts val="0"/>
              </a:spcBef>
              <a:spcAft>
                <a:spcPts val="0"/>
              </a:spcAft>
              <a:buSzPts val="7000"/>
              <a:buNone/>
              <a:defRPr sz="11202"/>
            </a:lvl8pPr>
            <a:lvl9pPr lvl="8" algn="ctr">
              <a:spcBef>
                <a:spcPts val="0"/>
              </a:spcBef>
              <a:spcAft>
                <a:spcPts val="0"/>
              </a:spcAft>
              <a:buSzPts val="7000"/>
              <a:buNone/>
              <a:defRPr sz="11202"/>
            </a:lvl9pPr>
          </a:lstStyle>
          <a:p>
            <a:endParaRPr/>
          </a:p>
        </p:txBody>
      </p:sp>
    </p:spTree>
    <p:extLst>
      <p:ext uri="{BB962C8B-B14F-4D97-AF65-F5344CB8AC3E}">
        <p14:creationId xmlns:p14="http://schemas.microsoft.com/office/powerpoint/2010/main" val="33882556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2"/>
        <p:cNvGrpSpPr/>
        <p:nvPr/>
      </p:nvGrpSpPr>
      <p:grpSpPr>
        <a:xfrm>
          <a:off x="0" y="0"/>
          <a:ext cx="0" cy="0"/>
          <a:chOff x="0" y="0"/>
          <a:chExt cx="0" cy="0"/>
        </a:xfrm>
      </p:grpSpPr>
      <p:sp>
        <p:nvSpPr>
          <p:cNvPr id="14" name="Google Shape;14;p3"/>
          <p:cNvSpPr txBox="1">
            <a:spLocks noGrp="1"/>
          </p:cNvSpPr>
          <p:nvPr>
            <p:ph type="title"/>
          </p:nvPr>
        </p:nvSpPr>
        <p:spPr>
          <a:xfrm>
            <a:off x="5317443" y="4629981"/>
            <a:ext cx="3995520" cy="111264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760">
                <a:solidFill>
                  <a:schemeClr val="accent2"/>
                </a:solidFill>
              </a:defRPr>
            </a:lvl1pPr>
            <a:lvl2pPr lvl="1">
              <a:spcBef>
                <a:spcPts val="0"/>
              </a:spcBef>
              <a:spcAft>
                <a:spcPts val="0"/>
              </a:spcAft>
              <a:buSzPts val="3600"/>
              <a:buNone/>
              <a:defRPr sz="5760"/>
            </a:lvl2pPr>
            <a:lvl3pPr lvl="2">
              <a:spcBef>
                <a:spcPts val="0"/>
              </a:spcBef>
              <a:spcAft>
                <a:spcPts val="0"/>
              </a:spcAft>
              <a:buSzPts val="3600"/>
              <a:buNone/>
              <a:defRPr sz="5760"/>
            </a:lvl3pPr>
            <a:lvl4pPr lvl="3">
              <a:spcBef>
                <a:spcPts val="0"/>
              </a:spcBef>
              <a:spcAft>
                <a:spcPts val="0"/>
              </a:spcAft>
              <a:buSzPts val="3600"/>
              <a:buNone/>
              <a:defRPr sz="5760"/>
            </a:lvl4pPr>
            <a:lvl5pPr lvl="4">
              <a:spcBef>
                <a:spcPts val="0"/>
              </a:spcBef>
              <a:spcAft>
                <a:spcPts val="0"/>
              </a:spcAft>
              <a:buSzPts val="3600"/>
              <a:buNone/>
              <a:defRPr sz="5760"/>
            </a:lvl5pPr>
            <a:lvl6pPr lvl="5">
              <a:spcBef>
                <a:spcPts val="0"/>
              </a:spcBef>
              <a:spcAft>
                <a:spcPts val="0"/>
              </a:spcAft>
              <a:buSzPts val="3600"/>
              <a:buNone/>
              <a:defRPr sz="5760"/>
            </a:lvl6pPr>
            <a:lvl7pPr lvl="6">
              <a:spcBef>
                <a:spcPts val="0"/>
              </a:spcBef>
              <a:spcAft>
                <a:spcPts val="0"/>
              </a:spcAft>
              <a:buSzPts val="3600"/>
              <a:buNone/>
              <a:defRPr sz="5760"/>
            </a:lvl7pPr>
            <a:lvl8pPr lvl="7">
              <a:spcBef>
                <a:spcPts val="0"/>
              </a:spcBef>
              <a:spcAft>
                <a:spcPts val="0"/>
              </a:spcAft>
              <a:buSzPts val="3600"/>
              <a:buNone/>
              <a:defRPr sz="5760"/>
            </a:lvl8pPr>
            <a:lvl9pPr lvl="8">
              <a:spcBef>
                <a:spcPts val="0"/>
              </a:spcBef>
              <a:spcAft>
                <a:spcPts val="0"/>
              </a:spcAft>
              <a:buSzPts val="3600"/>
              <a:buNone/>
              <a:defRPr sz="5760"/>
            </a:lvl9pPr>
          </a:lstStyle>
          <a:p>
            <a:endParaRPr/>
          </a:p>
        </p:txBody>
      </p:sp>
      <p:sp>
        <p:nvSpPr>
          <p:cNvPr id="15" name="Google Shape;15;p3"/>
          <p:cNvSpPr txBox="1">
            <a:spLocks noGrp="1"/>
          </p:cNvSpPr>
          <p:nvPr>
            <p:ph type="title" idx="2" hasCustomPrompt="1"/>
          </p:nvPr>
        </p:nvSpPr>
        <p:spPr>
          <a:xfrm>
            <a:off x="5391400" y="1458821"/>
            <a:ext cx="3720960" cy="286512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0"/>
              <a:buFont typeface="Open Sans"/>
              <a:buNone/>
              <a:defRPr sz="22400" b="1" u="sng">
                <a:latin typeface="Open Sans"/>
                <a:ea typeface="Open Sans"/>
                <a:cs typeface="Open Sans"/>
                <a:sym typeface="Open Sans"/>
              </a:defRPr>
            </a:lvl1pPr>
            <a:lvl2pPr lvl="1" algn="r" rtl="0">
              <a:spcBef>
                <a:spcPts val="0"/>
              </a:spcBef>
              <a:spcAft>
                <a:spcPts val="0"/>
              </a:spcAft>
              <a:buClr>
                <a:schemeClr val="accent3"/>
              </a:buClr>
              <a:buSzPts val="14000"/>
              <a:buFont typeface="Open Sans"/>
              <a:buNone/>
              <a:defRPr sz="22400" b="1" u="none">
                <a:solidFill>
                  <a:schemeClr val="accent3"/>
                </a:solidFill>
                <a:latin typeface="Open Sans"/>
                <a:ea typeface="Open Sans"/>
                <a:cs typeface="Open Sans"/>
                <a:sym typeface="Open Sans"/>
              </a:defRPr>
            </a:lvl2pPr>
            <a:lvl3pPr lvl="2" algn="r" rtl="0">
              <a:spcBef>
                <a:spcPts val="0"/>
              </a:spcBef>
              <a:spcAft>
                <a:spcPts val="0"/>
              </a:spcAft>
              <a:buClr>
                <a:schemeClr val="accent3"/>
              </a:buClr>
              <a:buSzPts val="14000"/>
              <a:buFont typeface="Open Sans"/>
              <a:buNone/>
              <a:defRPr sz="22400" b="1" u="none">
                <a:solidFill>
                  <a:schemeClr val="accent3"/>
                </a:solidFill>
                <a:latin typeface="Open Sans"/>
                <a:ea typeface="Open Sans"/>
                <a:cs typeface="Open Sans"/>
                <a:sym typeface="Open Sans"/>
              </a:defRPr>
            </a:lvl3pPr>
            <a:lvl4pPr lvl="3" algn="r" rtl="0">
              <a:spcBef>
                <a:spcPts val="0"/>
              </a:spcBef>
              <a:spcAft>
                <a:spcPts val="0"/>
              </a:spcAft>
              <a:buClr>
                <a:schemeClr val="accent3"/>
              </a:buClr>
              <a:buSzPts val="14000"/>
              <a:buFont typeface="Open Sans"/>
              <a:buNone/>
              <a:defRPr sz="22400" b="1" u="none">
                <a:solidFill>
                  <a:schemeClr val="accent3"/>
                </a:solidFill>
                <a:latin typeface="Open Sans"/>
                <a:ea typeface="Open Sans"/>
                <a:cs typeface="Open Sans"/>
                <a:sym typeface="Open Sans"/>
              </a:defRPr>
            </a:lvl4pPr>
            <a:lvl5pPr lvl="4" algn="r" rtl="0">
              <a:spcBef>
                <a:spcPts val="0"/>
              </a:spcBef>
              <a:spcAft>
                <a:spcPts val="0"/>
              </a:spcAft>
              <a:buClr>
                <a:schemeClr val="accent3"/>
              </a:buClr>
              <a:buSzPts val="14000"/>
              <a:buFont typeface="Open Sans"/>
              <a:buNone/>
              <a:defRPr sz="22400" b="1" u="none">
                <a:solidFill>
                  <a:schemeClr val="accent3"/>
                </a:solidFill>
                <a:latin typeface="Open Sans"/>
                <a:ea typeface="Open Sans"/>
                <a:cs typeface="Open Sans"/>
                <a:sym typeface="Open Sans"/>
              </a:defRPr>
            </a:lvl5pPr>
            <a:lvl6pPr lvl="5" algn="r" rtl="0">
              <a:spcBef>
                <a:spcPts val="0"/>
              </a:spcBef>
              <a:spcAft>
                <a:spcPts val="0"/>
              </a:spcAft>
              <a:buClr>
                <a:schemeClr val="accent3"/>
              </a:buClr>
              <a:buSzPts val="14000"/>
              <a:buFont typeface="Open Sans"/>
              <a:buNone/>
              <a:defRPr sz="22400" b="1" u="none">
                <a:solidFill>
                  <a:schemeClr val="accent3"/>
                </a:solidFill>
                <a:latin typeface="Open Sans"/>
                <a:ea typeface="Open Sans"/>
                <a:cs typeface="Open Sans"/>
                <a:sym typeface="Open Sans"/>
              </a:defRPr>
            </a:lvl6pPr>
            <a:lvl7pPr lvl="6" algn="r" rtl="0">
              <a:spcBef>
                <a:spcPts val="0"/>
              </a:spcBef>
              <a:spcAft>
                <a:spcPts val="0"/>
              </a:spcAft>
              <a:buClr>
                <a:schemeClr val="accent3"/>
              </a:buClr>
              <a:buSzPts val="14000"/>
              <a:buFont typeface="Open Sans"/>
              <a:buNone/>
              <a:defRPr sz="22400" b="1" u="none">
                <a:solidFill>
                  <a:schemeClr val="accent3"/>
                </a:solidFill>
                <a:latin typeface="Open Sans"/>
                <a:ea typeface="Open Sans"/>
                <a:cs typeface="Open Sans"/>
                <a:sym typeface="Open Sans"/>
              </a:defRPr>
            </a:lvl7pPr>
            <a:lvl8pPr lvl="7" algn="r" rtl="0">
              <a:spcBef>
                <a:spcPts val="0"/>
              </a:spcBef>
              <a:spcAft>
                <a:spcPts val="0"/>
              </a:spcAft>
              <a:buClr>
                <a:schemeClr val="accent3"/>
              </a:buClr>
              <a:buSzPts val="14000"/>
              <a:buFont typeface="Open Sans"/>
              <a:buNone/>
              <a:defRPr sz="22400" b="1" u="none">
                <a:solidFill>
                  <a:schemeClr val="accent3"/>
                </a:solidFill>
                <a:latin typeface="Open Sans"/>
                <a:ea typeface="Open Sans"/>
                <a:cs typeface="Open Sans"/>
                <a:sym typeface="Open Sans"/>
              </a:defRPr>
            </a:lvl8pPr>
            <a:lvl9pPr lvl="8" algn="r" rtl="0">
              <a:spcBef>
                <a:spcPts val="0"/>
              </a:spcBef>
              <a:spcAft>
                <a:spcPts val="0"/>
              </a:spcAft>
              <a:buClr>
                <a:schemeClr val="accent3"/>
              </a:buClr>
              <a:buSzPts val="14000"/>
              <a:buFont typeface="Open Sans"/>
              <a:buNone/>
              <a:defRPr sz="22400" b="1" u="none">
                <a:solidFill>
                  <a:schemeClr val="accent3"/>
                </a:solidFill>
                <a:latin typeface="Open Sans"/>
                <a:ea typeface="Open Sans"/>
                <a:cs typeface="Open Sans"/>
                <a:sym typeface="Open Sans"/>
              </a:defRPr>
            </a:lvl9pPr>
          </a:lstStyle>
          <a:p>
            <a:r>
              <a:t>xx%</a:t>
            </a:r>
          </a:p>
        </p:txBody>
      </p:sp>
      <p:sp>
        <p:nvSpPr>
          <p:cNvPr id="16" name="Google Shape;16;p3"/>
          <p:cNvSpPr txBox="1">
            <a:spLocks noGrp="1"/>
          </p:cNvSpPr>
          <p:nvPr>
            <p:ph type="subTitle" idx="1"/>
          </p:nvPr>
        </p:nvSpPr>
        <p:spPr>
          <a:xfrm>
            <a:off x="5317443" y="5742621"/>
            <a:ext cx="3995520" cy="102816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242"/>
            </a:lvl1pPr>
            <a:lvl2pPr lvl="1" algn="ctr" rtl="0">
              <a:lnSpc>
                <a:spcPct val="100000"/>
              </a:lnSpc>
              <a:spcBef>
                <a:spcPts val="0"/>
              </a:spcBef>
              <a:spcAft>
                <a:spcPts val="0"/>
              </a:spcAft>
              <a:buSzPts val="2800"/>
              <a:buNone/>
              <a:defRPr sz="4480"/>
            </a:lvl2pPr>
            <a:lvl3pPr lvl="2" algn="ctr" rtl="0">
              <a:lnSpc>
                <a:spcPct val="100000"/>
              </a:lnSpc>
              <a:spcBef>
                <a:spcPts val="0"/>
              </a:spcBef>
              <a:spcAft>
                <a:spcPts val="0"/>
              </a:spcAft>
              <a:buSzPts val="2800"/>
              <a:buNone/>
              <a:defRPr sz="4480"/>
            </a:lvl3pPr>
            <a:lvl4pPr lvl="3" algn="ctr" rtl="0">
              <a:lnSpc>
                <a:spcPct val="100000"/>
              </a:lnSpc>
              <a:spcBef>
                <a:spcPts val="0"/>
              </a:spcBef>
              <a:spcAft>
                <a:spcPts val="0"/>
              </a:spcAft>
              <a:buSzPts val="2800"/>
              <a:buNone/>
              <a:defRPr sz="4480"/>
            </a:lvl4pPr>
            <a:lvl5pPr lvl="4" algn="ctr" rtl="0">
              <a:lnSpc>
                <a:spcPct val="100000"/>
              </a:lnSpc>
              <a:spcBef>
                <a:spcPts val="0"/>
              </a:spcBef>
              <a:spcAft>
                <a:spcPts val="0"/>
              </a:spcAft>
              <a:buSzPts val="2800"/>
              <a:buNone/>
              <a:defRPr sz="4480"/>
            </a:lvl5pPr>
            <a:lvl6pPr lvl="5" algn="ctr" rtl="0">
              <a:lnSpc>
                <a:spcPct val="100000"/>
              </a:lnSpc>
              <a:spcBef>
                <a:spcPts val="0"/>
              </a:spcBef>
              <a:spcAft>
                <a:spcPts val="0"/>
              </a:spcAft>
              <a:buSzPts val="2800"/>
              <a:buNone/>
              <a:defRPr sz="4480"/>
            </a:lvl6pPr>
            <a:lvl7pPr lvl="6" algn="ctr" rtl="0">
              <a:lnSpc>
                <a:spcPct val="100000"/>
              </a:lnSpc>
              <a:spcBef>
                <a:spcPts val="0"/>
              </a:spcBef>
              <a:spcAft>
                <a:spcPts val="0"/>
              </a:spcAft>
              <a:buSzPts val="2800"/>
              <a:buNone/>
              <a:defRPr sz="4480"/>
            </a:lvl7pPr>
            <a:lvl8pPr lvl="7" algn="ctr" rtl="0">
              <a:lnSpc>
                <a:spcPct val="100000"/>
              </a:lnSpc>
              <a:spcBef>
                <a:spcPts val="0"/>
              </a:spcBef>
              <a:spcAft>
                <a:spcPts val="0"/>
              </a:spcAft>
              <a:buSzPts val="2800"/>
              <a:buNone/>
              <a:defRPr sz="4480"/>
            </a:lvl8pPr>
            <a:lvl9pPr lvl="8" algn="ctr" rtl="0">
              <a:lnSpc>
                <a:spcPct val="100000"/>
              </a:lnSpc>
              <a:spcBef>
                <a:spcPts val="0"/>
              </a:spcBef>
              <a:spcAft>
                <a:spcPts val="0"/>
              </a:spcAft>
              <a:buSzPts val="2800"/>
              <a:buNone/>
              <a:defRPr sz="4480"/>
            </a:lvl9pPr>
          </a:lstStyle>
          <a:p>
            <a:endParaRPr/>
          </a:p>
        </p:txBody>
      </p:sp>
    </p:spTree>
    <p:extLst>
      <p:ext uri="{BB962C8B-B14F-4D97-AF65-F5344CB8AC3E}">
        <p14:creationId xmlns:p14="http://schemas.microsoft.com/office/powerpoint/2010/main" val="4201120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423372"/>
            <a:ext cx="14630400" cy="49271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30">
            <a:extLst>
              <a:ext uri="{28A0092B-C50C-407E-A947-70E740481C1C}">
                <a14:useLocalDpi xmlns:a14="http://schemas.microsoft.com/office/drawing/2010/main" val="0"/>
              </a:ext>
            </a:extLst>
          </a:blip>
          <a:srcRect t="1538" b="-1538"/>
          <a:stretch/>
        </p:blipFill>
        <p:spPr bwMode="black">
          <a:xfrm>
            <a:off x="0" y="7351776"/>
            <a:ext cx="14630400" cy="891540"/>
          </a:xfrm>
          <a:prstGeom prst="rect">
            <a:avLst/>
          </a:prstGeom>
        </p:spPr>
      </p:pic>
      <p:sp>
        <p:nvSpPr>
          <p:cNvPr id="2" name="Title Placeholder 1"/>
          <p:cNvSpPr>
            <a:spLocks noGrp="1"/>
          </p:cNvSpPr>
          <p:nvPr>
            <p:ph type="title"/>
          </p:nvPr>
        </p:nvSpPr>
        <p:spPr>
          <a:xfrm>
            <a:off x="1741895" y="965423"/>
            <a:ext cx="11523930" cy="12590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741895" y="2418879"/>
            <a:ext cx="11523930" cy="41407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064966" y="396445"/>
            <a:ext cx="4200858" cy="371041"/>
          </a:xfrm>
          <a:prstGeom prst="rect">
            <a:avLst/>
          </a:prstGeom>
        </p:spPr>
        <p:txBody>
          <a:bodyPr vert="horz" lIns="91440" tIns="45720" rIns="91440" bIns="45720" rtlCol="0" anchor="ctr"/>
          <a:lstStyle>
            <a:lvl1pPr algn="r">
              <a:defRPr sz="1200">
                <a:solidFill>
                  <a:schemeClr val="tx1">
                    <a:tint val="75000"/>
                  </a:schemeClr>
                </a:solidFill>
              </a:defRPr>
            </a:lvl1pPr>
          </a:lstStyle>
          <a:p>
            <a:fld id="{48A87A34-81AB-432B-8DAE-1953F412C126}" type="datetimeFigureOut">
              <a:rPr lang="en-US" smtClean="0"/>
              <a:pPr/>
              <a:t>5/25/2025</a:t>
            </a:fld>
            <a:endParaRPr lang="en-US" dirty="0"/>
          </a:p>
        </p:txBody>
      </p:sp>
      <p:sp>
        <p:nvSpPr>
          <p:cNvPr id="5" name="Footer Placeholder 4"/>
          <p:cNvSpPr>
            <a:spLocks noGrp="1"/>
          </p:cNvSpPr>
          <p:nvPr>
            <p:ph type="ftr" sz="quarter" idx="3"/>
          </p:nvPr>
        </p:nvSpPr>
        <p:spPr>
          <a:xfrm>
            <a:off x="1741895" y="395169"/>
            <a:ext cx="7126603" cy="371041"/>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76073" y="958767"/>
            <a:ext cx="973223" cy="604294"/>
          </a:xfrm>
          <a:prstGeom prst="rect">
            <a:avLst/>
          </a:prstGeom>
        </p:spPr>
        <p:txBody>
          <a:bodyPr vert="horz" lIns="91440" tIns="45720" rIns="91440" bIns="45720" rtlCol="0" anchor="t"/>
          <a:lstStyle>
            <a:lvl1pPr algn="r">
              <a:defRPr sz="3360">
                <a:solidFill>
                  <a:schemeClr val="accent1"/>
                </a:solidFill>
              </a:defRPr>
            </a:lvl1pPr>
          </a:lstStyle>
          <a:p>
            <a:fld id="{6D22F896-40B5-4ADD-8801-0D06FADFA095}" type="slidenum">
              <a:rPr lang="en-US" smtClean="0"/>
              <a:pPr/>
              <a:t>‹#›</a:t>
            </a:fld>
            <a:endParaRPr lang="en-US" dirty="0"/>
          </a:p>
        </p:txBody>
      </p:sp>
      <p:cxnSp>
        <p:nvCxnSpPr>
          <p:cNvPr id="10" name="Straight Connector 9"/>
          <p:cNvCxnSpPr/>
          <p:nvPr/>
        </p:nvCxnSpPr>
        <p:spPr>
          <a:xfrm>
            <a:off x="0" y="7354096"/>
            <a:ext cx="146304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9981367"/>
      </p:ext>
    </p:extLst>
  </p:cSld>
  <p:clrMap bg1="lt1" tx1="dk1" bg2="lt2" tx2="dk2" accent1="accent1" accent2="accent2" accent3="accent3" accent4="accent4" accent5="accent5" accent6="accent6" hlink="hlink" folHlink="folHlink"/>
  <p:sldLayoutIdLst>
    <p:sldLayoutId id="2147484040" r:id="rId1"/>
    <p:sldLayoutId id="2147484041" r:id="rId2"/>
    <p:sldLayoutId id="2147484042" r:id="rId3"/>
    <p:sldLayoutId id="2147484043" r:id="rId4"/>
    <p:sldLayoutId id="2147484044" r:id="rId5"/>
    <p:sldLayoutId id="2147484045" r:id="rId6"/>
    <p:sldLayoutId id="2147484046" r:id="rId7"/>
    <p:sldLayoutId id="2147484047" r:id="rId8"/>
    <p:sldLayoutId id="2147484048" r:id="rId9"/>
    <p:sldLayoutId id="2147484049" r:id="rId10"/>
    <p:sldLayoutId id="2147484050" r:id="rId11"/>
    <p:sldLayoutId id="2147484051" r:id="rId12"/>
    <p:sldLayoutId id="2147484052" r:id="rId13"/>
    <p:sldLayoutId id="2147484053" r:id="rId14"/>
    <p:sldLayoutId id="2147484059" r:id="rId15"/>
    <p:sldLayoutId id="2147484060" r:id="rId16"/>
    <p:sldLayoutId id="2147484061" r:id="rId17"/>
    <p:sldLayoutId id="2147484062" r:id="rId18"/>
    <p:sldLayoutId id="2147484063" r:id="rId19"/>
    <p:sldLayoutId id="2147484064" r:id="rId20"/>
    <p:sldLayoutId id="2147484065" r:id="rId21"/>
    <p:sldLayoutId id="2147484066" r:id="rId22"/>
    <p:sldLayoutId id="2147484067" r:id="rId23"/>
    <p:sldLayoutId id="2147484068" r:id="rId24"/>
    <p:sldLayoutId id="2147484069" r:id="rId25"/>
    <p:sldLayoutId id="2147484070" r:id="rId26"/>
    <p:sldLayoutId id="2147484075" r:id="rId27"/>
    <p:sldLayoutId id="2147484076" r:id="rId28"/>
  </p:sldLayoutIdLst>
  <p:hf sldNum="0" hdr="0" ftr="0" dt="0"/>
  <p:txStyles>
    <p:titleStyle>
      <a:lvl1pPr algn="l" defTabSz="1097280" rtl="0" eaLnBrk="1" latinLnBrk="0" hangingPunct="1">
        <a:lnSpc>
          <a:spcPct val="90000"/>
        </a:lnSpc>
        <a:spcBef>
          <a:spcPct val="0"/>
        </a:spcBef>
        <a:buNone/>
        <a:defRPr sz="3840" b="0" i="0" kern="1200" cap="all">
          <a:solidFill>
            <a:schemeClr val="tx1"/>
          </a:solidFill>
          <a:effectLst/>
          <a:latin typeface="+mj-lt"/>
          <a:ea typeface="+mj-ea"/>
          <a:cs typeface="+mj-cs"/>
        </a:defRPr>
      </a:lvl1pPr>
    </p:titleStyle>
    <p:bodyStyle>
      <a:lvl1pPr marL="274320" indent="-274320" algn="l" defTabSz="1097280" rtl="0" eaLnBrk="1" latinLnBrk="0" hangingPunct="1">
        <a:lnSpc>
          <a:spcPct val="120000"/>
        </a:lnSpc>
        <a:spcBef>
          <a:spcPts val="12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1pPr>
      <a:lvl2pPr marL="82296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2160" kern="1200" cap="none" baseline="0">
          <a:solidFill>
            <a:schemeClr val="tx1"/>
          </a:solidFill>
          <a:effectLst/>
          <a:latin typeface="+mn-lt"/>
          <a:ea typeface="+mn-ea"/>
          <a:cs typeface="+mn-cs"/>
        </a:defRPr>
      </a:lvl2pPr>
      <a:lvl3pPr marL="137160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920" kern="1200">
          <a:solidFill>
            <a:schemeClr val="tx1"/>
          </a:solidFill>
          <a:effectLst/>
          <a:latin typeface="+mn-lt"/>
          <a:ea typeface="+mn-ea"/>
          <a:cs typeface="+mn-cs"/>
        </a:defRPr>
      </a:lvl3pPr>
      <a:lvl4pPr marL="192024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680" kern="1200" cap="none" baseline="0">
          <a:solidFill>
            <a:schemeClr val="tx1"/>
          </a:solidFill>
          <a:effectLst/>
          <a:latin typeface="+mn-lt"/>
          <a:ea typeface="+mn-ea"/>
          <a:cs typeface="+mn-cs"/>
        </a:defRPr>
      </a:lvl4pPr>
      <a:lvl5pPr marL="246888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5pPr>
      <a:lvl6pPr marL="301752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6pPr>
      <a:lvl7pPr marL="356616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7pPr>
      <a:lvl8pPr marL="411480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baseline="0">
          <a:solidFill>
            <a:schemeClr val="tx1"/>
          </a:solidFill>
          <a:effectLst/>
          <a:latin typeface="+mn-lt"/>
          <a:ea typeface="+mn-ea"/>
          <a:cs typeface="+mn-cs"/>
        </a:defRPr>
      </a:lvl8pPr>
      <a:lvl9pPr marL="466344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baseline="0">
          <a:solidFill>
            <a:schemeClr val="tx1"/>
          </a:solidFill>
          <a:effectLst/>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png"/><Relationship Id="rId7"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7.xml"/><Relationship Id="rId6" Type="http://schemas.openxmlformats.org/officeDocument/2006/relationships/image" Target="../media/image8.jpg"/><Relationship Id="rId11" Type="http://schemas.openxmlformats.org/officeDocument/2006/relationships/image" Target="../media/image13.png"/><Relationship Id="rId5" Type="http://schemas.openxmlformats.org/officeDocument/2006/relationships/image" Target="../media/image7.jp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9.xml"/><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2.xml"/><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26.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4.xml"/><Relationship Id="rId1" Type="http://schemas.openxmlformats.org/officeDocument/2006/relationships/slideLayout" Target="../slideLayouts/slideLayout26.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26.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6.xml"/><Relationship Id="rId1" Type="http://schemas.openxmlformats.org/officeDocument/2006/relationships/slideLayout" Target="../slideLayouts/slideLayout26.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7.xml"/><Relationship Id="rId1" Type="http://schemas.openxmlformats.org/officeDocument/2006/relationships/slideLayout" Target="../slideLayouts/slideLayout26.xml"/><Relationship Id="rId4" Type="http://schemas.openxmlformats.org/officeDocument/2006/relationships/image" Target="../media/image56.png"/></Relationships>
</file>

<file path=ppt/slides/_rels/slide5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48.xml"/><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49.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0.xml"/><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1.xm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2.xml"/><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4A9609-1AE5-407E-AE25-D9DA68C82434}"/>
              </a:ext>
            </a:extLst>
          </p:cNvPr>
          <p:cNvPicPr>
            <a:picLocks noChangeAspect="1"/>
          </p:cNvPicPr>
          <p:nvPr/>
        </p:nvPicPr>
        <p:blipFill>
          <a:blip r:embed="rId2"/>
          <a:srcRect r="1932" b="2"/>
          <a:stretch/>
        </p:blipFill>
        <p:spPr>
          <a:xfrm>
            <a:off x="963005" y="658368"/>
            <a:ext cx="12480942" cy="5949696"/>
          </a:xfrm>
          <a:prstGeom prst="rect">
            <a:avLst/>
          </a:prstGeom>
        </p:spPr>
      </p:pic>
    </p:spTree>
    <p:extLst>
      <p:ext uri="{BB962C8B-B14F-4D97-AF65-F5344CB8AC3E}">
        <p14:creationId xmlns:p14="http://schemas.microsoft.com/office/powerpoint/2010/main" val="1823276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3798" y="1839039"/>
            <a:ext cx="6283881" cy="701278"/>
          </a:xfrm>
          <a:prstGeom prst="rect">
            <a:avLst/>
          </a:prstGeom>
          <a:noFill/>
          <a:ln/>
        </p:spPr>
        <p:txBody>
          <a:bodyPr wrap="non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Group and Supervisor</a:t>
            </a:r>
            <a:endParaRPr lang="en-US" sz="4400" dirty="0"/>
          </a:p>
        </p:txBody>
      </p:sp>
      <p:sp>
        <p:nvSpPr>
          <p:cNvPr id="3" name="Text 1"/>
          <p:cNvSpPr/>
          <p:nvPr/>
        </p:nvSpPr>
        <p:spPr>
          <a:xfrm>
            <a:off x="863798" y="2996803"/>
            <a:ext cx="6150293" cy="370165"/>
          </a:xfrm>
          <a:prstGeom prst="rect">
            <a:avLst/>
          </a:prstGeom>
          <a:noFill/>
          <a:ln/>
        </p:spPr>
        <p:txBody>
          <a:bodyPr wrap="none" lIns="0" tIns="0" rIns="0" bIns="0" rtlCol="0" anchor="t"/>
          <a:lstStyle/>
          <a:p>
            <a:pPr marL="342900" indent="-342900" algn="l">
              <a:lnSpc>
                <a:spcPts val="2900"/>
              </a:lnSpc>
              <a:buSzPct val="100000"/>
              <a:buChar char="•"/>
            </a:pPr>
            <a:r>
              <a:rPr lang="en-US" sz="1900" b="1" dirty="0">
                <a:solidFill>
                  <a:srgbClr val="3D3838"/>
                </a:solidFill>
                <a:latin typeface="Source Sans Pro" pitchFamily="34" charset="0"/>
                <a:ea typeface="Source Sans Pro" pitchFamily="34" charset="-122"/>
                <a:cs typeface="Source Sans Pro" pitchFamily="34" charset="-120"/>
              </a:rPr>
              <a:t>Group Members</a:t>
            </a:r>
            <a:r>
              <a:rPr lang="en-US" sz="1900" dirty="0">
                <a:solidFill>
                  <a:srgbClr val="3D3838"/>
                </a:solidFill>
                <a:latin typeface="Source Sans Pro" pitchFamily="34" charset="0"/>
                <a:ea typeface="Source Sans Pro" pitchFamily="34" charset="-122"/>
                <a:cs typeface="Source Sans Pro" pitchFamily="34" charset="-120"/>
              </a:rPr>
              <a:t>:</a:t>
            </a:r>
            <a:endParaRPr lang="en-US" sz="1900" dirty="0"/>
          </a:p>
        </p:txBody>
      </p:sp>
      <p:sp>
        <p:nvSpPr>
          <p:cNvPr id="4" name="Text 2"/>
          <p:cNvSpPr/>
          <p:nvPr/>
        </p:nvSpPr>
        <p:spPr>
          <a:xfrm>
            <a:off x="863798" y="3453289"/>
            <a:ext cx="6150293" cy="370165"/>
          </a:xfrm>
          <a:prstGeom prst="rect">
            <a:avLst/>
          </a:prstGeom>
          <a:noFill/>
          <a:ln/>
        </p:spPr>
        <p:txBody>
          <a:bodyPr wrap="none" lIns="0" tIns="0" rIns="0" bIns="0" rtlCol="0" anchor="t"/>
          <a:lstStyle/>
          <a:p>
            <a:pPr marL="685800" lvl="1" indent="-342900" algn="l">
              <a:lnSpc>
                <a:spcPts val="2900"/>
              </a:lnSpc>
              <a:buSzPct val="100000"/>
              <a:buChar char="•"/>
            </a:pPr>
            <a:r>
              <a:rPr lang="en-US" sz="1900" dirty="0">
                <a:solidFill>
                  <a:srgbClr val="3D3838"/>
                </a:solidFill>
                <a:latin typeface="Source Sans Pro" pitchFamily="34" charset="0"/>
                <a:ea typeface="Source Sans Pro" pitchFamily="34" charset="-122"/>
                <a:cs typeface="Source Sans Pro" pitchFamily="34" charset="-120"/>
              </a:rPr>
              <a:t>Nasir Shahzad (SP22-BCS-077)</a:t>
            </a:r>
            <a:endParaRPr lang="en-US" sz="1900" dirty="0"/>
          </a:p>
        </p:txBody>
      </p:sp>
      <p:sp>
        <p:nvSpPr>
          <p:cNvPr id="5" name="Text 3"/>
          <p:cNvSpPr/>
          <p:nvPr/>
        </p:nvSpPr>
        <p:spPr>
          <a:xfrm>
            <a:off x="863798" y="3909774"/>
            <a:ext cx="6150293" cy="370165"/>
          </a:xfrm>
          <a:prstGeom prst="rect">
            <a:avLst/>
          </a:prstGeom>
          <a:noFill/>
          <a:ln/>
        </p:spPr>
        <p:txBody>
          <a:bodyPr wrap="none" lIns="0" tIns="0" rIns="0" bIns="0" rtlCol="0" anchor="t"/>
          <a:lstStyle/>
          <a:p>
            <a:pPr marL="685800" lvl="1" indent="-342900" algn="l">
              <a:lnSpc>
                <a:spcPts val="2900"/>
              </a:lnSpc>
              <a:buSzPct val="100000"/>
              <a:buChar char="•"/>
            </a:pPr>
            <a:r>
              <a:rPr lang="en-US" sz="1900" dirty="0">
                <a:solidFill>
                  <a:srgbClr val="3D3838"/>
                </a:solidFill>
                <a:latin typeface="Source Sans Pro" pitchFamily="34" charset="0"/>
                <a:ea typeface="Source Sans Pro" pitchFamily="34" charset="-122"/>
                <a:cs typeface="Source Sans Pro" pitchFamily="34" charset="-120"/>
              </a:rPr>
              <a:t>Sohail Faiz Rasool (SP22-BCS-095)</a:t>
            </a:r>
            <a:endParaRPr lang="en-US" sz="1900" dirty="0"/>
          </a:p>
        </p:txBody>
      </p:sp>
      <p:sp>
        <p:nvSpPr>
          <p:cNvPr id="6" name="Text 4"/>
          <p:cNvSpPr/>
          <p:nvPr/>
        </p:nvSpPr>
        <p:spPr>
          <a:xfrm>
            <a:off x="863798" y="4366260"/>
            <a:ext cx="6150293" cy="370165"/>
          </a:xfrm>
          <a:prstGeom prst="rect">
            <a:avLst/>
          </a:prstGeom>
          <a:noFill/>
          <a:ln/>
        </p:spPr>
        <p:txBody>
          <a:bodyPr wrap="none" lIns="0" tIns="0" rIns="0" bIns="0" rtlCol="0" anchor="t"/>
          <a:lstStyle/>
          <a:p>
            <a:pPr marL="342900" indent="-342900" algn="l">
              <a:lnSpc>
                <a:spcPts val="2900"/>
              </a:lnSpc>
              <a:buSzPct val="100000"/>
              <a:buChar char="•"/>
            </a:pPr>
            <a:r>
              <a:rPr lang="en-US" sz="1900" b="1" dirty="0">
                <a:solidFill>
                  <a:srgbClr val="3D3838"/>
                </a:solidFill>
                <a:latin typeface="Source Sans Pro" pitchFamily="34" charset="0"/>
                <a:ea typeface="Source Sans Pro" pitchFamily="34" charset="-122"/>
                <a:cs typeface="Source Sans Pro" pitchFamily="34" charset="-120"/>
              </a:rPr>
              <a:t>Supervisor</a:t>
            </a:r>
            <a:r>
              <a:rPr lang="en-US" sz="1900" dirty="0">
                <a:solidFill>
                  <a:srgbClr val="3D3838"/>
                </a:solidFill>
                <a:latin typeface="Source Sans Pro" pitchFamily="34" charset="0"/>
                <a:ea typeface="Source Sans Pro" pitchFamily="34" charset="-122"/>
                <a:cs typeface="Source Sans Pro" pitchFamily="34" charset="-120"/>
              </a:rPr>
              <a:t>:</a:t>
            </a:r>
            <a:endParaRPr lang="en-US" sz="1900" dirty="0"/>
          </a:p>
        </p:txBody>
      </p:sp>
      <p:sp>
        <p:nvSpPr>
          <p:cNvPr id="7" name="Text 5"/>
          <p:cNvSpPr/>
          <p:nvPr/>
        </p:nvSpPr>
        <p:spPr>
          <a:xfrm>
            <a:off x="863798" y="4822746"/>
            <a:ext cx="6150293" cy="370165"/>
          </a:xfrm>
          <a:prstGeom prst="rect">
            <a:avLst/>
          </a:prstGeom>
          <a:noFill/>
          <a:ln/>
        </p:spPr>
        <p:txBody>
          <a:bodyPr wrap="none" lIns="0" tIns="0" rIns="0" bIns="0" rtlCol="0" anchor="t"/>
          <a:lstStyle/>
          <a:p>
            <a:pPr marL="685800" lvl="1" indent="-342900" algn="l">
              <a:lnSpc>
                <a:spcPts val="2900"/>
              </a:lnSpc>
              <a:buSzPct val="100000"/>
              <a:buChar char="•"/>
            </a:pPr>
            <a:r>
              <a:rPr lang="en-US" sz="1900" dirty="0">
                <a:solidFill>
                  <a:srgbClr val="3D3838"/>
                </a:solidFill>
                <a:latin typeface="Source Sans Pro" pitchFamily="34" charset="0"/>
                <a:ea typeface="Source Sans Pro" pitchFamily="34" charset="-122"/>
                <a:cs typeface="Source Sans Pro" pitchFamily="34" charset="-120"/>
              </a:rPr>
              <a:t>Mr. Tanveer Ahmad</a:t>
            </a:r>
            <a:endParaRPr lang="en-US" sz="1900" dirty="0"/>
          </a:p>
        </p:txBody>
      </p:sp>
      <p:sp>
        <p:nvSpPr>
          <p:cNvPr id="8" name="Text 6"/>
          <p:cNvSpPr/>
          <p:nvPr/>
        </p:nvSpPr>
        <p:spPr>
          <a:xfrm>
            <a:off x="863798" y="5279231"/>
            <a:ext cx="6150293" cy="370165"/>
          </a:xfrm>
          <a:prstGeom prst="rect">
            <a:avLst/>
          </a:prstGeom>
          <a:noFill/>
          <a:ln/>
        </p:spPr>
        <p:txBody>
          <a:bodyPr wrap="none" lIns="0" tIns="0" rIns="0" bIns="0" rtlCol="0" anchor="t"/>
          <a:lstStyle/>
          <a:p>
            <a:pPr marL="342900" indent="-342900" algn="l">
              <a:lnSpc>
                <a:spcPts val="2900"/>
              </a:lnSpc>
              <a:buSzPct val="100000"/>
              <a:buChar char="•"/>
            </a:pPr>
            <a:r>
              <a:rPr lang="en-US" sz="1900" b="1" dirty="0">
                <a:solidFill>
                  <a:srgbClr val="3D3838"/>
                </a:solidFill>
                <a:latin typeface="Source Sans Pro" pitchFamily="34" charset="0"/>
                <a:ea typeface="Source Sans Pro" pitchFamily="34" charset="-122"/>
                <a:cs typeface="Source Sans Pro" pitchFamily="34" charset="-120"/>
              </a:rPr>
              <a:t>Institution</a:t>
            </a:r>
            <a:r>
              <a:rPr lang="en-US" sz="1900" dirty="0">
                <a:solidFill>
                  <a:srgbClr val="3D3838"/>
                </a:solidFill>
                <a:latin typeface="Source Sans Pro" pitchFamily="34" charset="0"/>
                <a:ea typeface="Source Sans Pro" pitchFamily="34" charset="-122"/>
                <a:cs typeface="Source Sans Pro" pitchFamily="34" charset="-120"/>
              </a:rPr>
              <a:t>:</a:t>
            </a:r>
            <a:endParaRPr lang="en-US" sz="1900" dirty="0"/>
          </a:p>
        </p:txBody>
      </p:sp>
      <p:sp>
        <p:nvSpPr>
          <p:cNvPr id="9" name="Text 7"/>
          <p:cNvSpPr/>
          <p:nvPr/>
        </p:nvSpPr>
        <p:spPr>
          <a:xfrm>
            <a:off x="863798" y="5735717"/>
            <a:ext cx="6150293" cy="370165"/>
          </a:xfrm>
          <a:prstGeom prst="rect">
            <a:avLst/>
          </a:prstGeom>
          <a:noFill/>
          <a:ln/>
        </p:spPr>
        <p:txBody>
          <a:bodyPr wrap="none" lIns="0" tIns="0" rIns="0" bIns="0" rtlCol="0" anchor="t"/>
          <a:lstStyle/>
          <a:p>
            <a:pPr marL="685800" lvl="1" indent="-342900" algn="l">
              <a:lnSpc>
                <a:spcPts val="2900"/>
              </a:lnSpc>
              <a:buSzPct val="100000"/>
              <a:buChar char="•"/>
            </a:pPr>
            <a:r>
              <a:rPr lang="en-US" sz="1900" dirty="0">
                <a:solidFill>
                  <a:srgbClr val="3D3838"/>
                </a:solidFill>
                <a:latin typeface="Source Sans Pro" pitchFamily="34" charset="0"/>
                <a:ea typeface="Source Sans Pro" pitchFamily="34" charset="-122"/>
                <a:cs typeface="Source Sans Pro" pitchFamily="34" charset="-120"/>
              </a:rPr>
              <a:t>COMSATS University Islamabad</a:t>
            </a:r>
            <a:endParaRPr lang="en-US" sz="1900" dirty="0"/>
          </a:p>
        </p:txBody>
      </p:sp>
      <p:pic>
        <p:nvPicPr>
          <p:cNvPr id="10" name="Image 0" descr="preencoded.png"/>
          <p:cNvPicPr>
            <a:picLocks noChangeAspect="1"/>
          </p:cNvPicPr>
          <p:nvPr/>
        </p:nvPicPr>
        <p:blipFill>
          <a:blip r:embed="rId3"/>
          <a:stretch>
            <a:fillRect/>
          </a:stretch>
        </p:blipFill>
        <p:spPr>
          <a:xfrm>
            <a:off x="8665028" y="1908983"/>
            <a:ext cx="4426539" cy="44116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2108121"/>
            <a:ext cx="7416403" cy="1701879"/>
          </a:xfrm>
          <a:prstGeom prst="rect">
            <a:avLst/>
          </a:prstGeom>
          <a:noFill/>
          <a:ln/>
        </p:spPr>
        <p:txBody>
          <a:bodyPr wrap="square" lIns="0" tIns="0" rIns="0" bIns="0" rtlCol="0" anchor="t"/>
          <a:lstStyle/>
          <a:p>
            <a:pPr marL="0" indent="0" algn="l">
              <a:buNone/>
            </a:pPr>
            <a:r>
              <a:rPr lang="en-US" sz="4800" b="1" kern="0" spc="-61">
                <a:solidFill>
                  <a:srgbClr val="000000"/>
                </a:solidFill>
                <a:latin typeface="Montserrat Bold" pitchFamily="34" charset="0"/>
                <a:ea typeface="Montserrat Bold" pitchFamily="34" charset="-122"/>
                <a:cs typeface="Montserrat Bold" pitchFamily="34" charset="-120"/>
              </a:rPr>
              <a:t>BrainBee: Bridging the Education Divide</a:t>
            </a:r>
            <a:endParaRPr lang="en-US" sz="4800" dirty="0"/>
          </a:p>
        </p:txBody>
      </p:sp>
      <p:sp>
        <p:nvSpPr>
          <p:cNvPr id="4" name="Text 1"/>
          <p:cNvSpPr/>
          <p:nvPr/>
        </p:nvSpPr>
        <p:spPr>
          <a:xfrm>
            <a:off x="863798" y="4049435"/>
            <a:ext cx="7416403" cy="740331"/>
          </a:xfrm>
          <a:prstGeom prst="rect">
            <a:avLst/>
          </a:prstGeom>
          <a:noFill/>
          <a:ln/>
        </p:spPr>
        <p:txBody>
          <a:bodyPr wrap="square" lIns="0" tIns="0" rIns="0" bIns="0" rtlCol="0" anchor="t"/>
          <a:lstStyle/>
          <a:p>
            <a:pPr marL="0" indent="0" algn="l">
              <a:lnSpc>
                <a:spcPts val="2900"/>
              </a:lnSpc>
              <a:buNone/>
            </a:pPr>
            <a:r>
              <a:rPr lang="en-US" sz="1900">
                <a:solidFill>
                  <a:srgbClr val="3D3838"/>
                </a:solidFill>
                <a:latin typeface="Source Sans Pro" pitchFamily="34" charset="0"/>
                <a:ea typeface="Source Sans Pro" pitchFamily="34" charset="-122"/>
                <a:cs typeface="Source Sans Pro" pitchFamily="34" charset="-120"/>
              </a:rPr>
              <a:t>An AI-powered learning platform designed to transform education through personalization, gamification, and real-time progress tracking.</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E40DE556-1F03-BF6B-090A-561668779000}"/>
              </a:ext>
            </a:extLst>
          </p:cNvPr>
          <p:cNvSpPr txBox="1"/>
          <p:nvPr/>
        </p:nvSpPr>
        <p:spPr>
          <a:xfrm>
            <a:off x="5238750" y="291554"/>
            <a:ext cx="3505200"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Introduction</a:t>
            </a:r>
          </a:p>
        </p:txBody>
      </p:sp>
      <p:sp>
        <p:nvSpPr>
          <p:cNvPr id="14" name="TextBox 13">
            <a:extLst>
              <a:ext uri="{FF2B5EF4-FFF2-40B4-BE49-F238E27FC236}">
                <a16:creationId xmlns:a16="http://schemas.microsoft.com/office/drawing/2014/main" id="{055AB669-1665-9921-BE59-36F8240DDFD2}"/>
              </a:ext>
            </a:extLst>
          </p:cNvPr>
          <p:cNvSpPr txBox="1"/>
          <p:nvPr/>
        </p:nvSpPr>
        <p:spPr>
          <a:xfrm>
            <a:off x="209550" y="1371600"/>
            <a:ext cx="14211300" cy="5693866"/>
          </a:xfrm>
          <a:prstGeom prst="rect">
            <a:avLst/>
          </a:prstGeom>
          <a:noFill/>
        </p:spPr>
        <p:txBody>
          <a:bodyPr wrap="square" rtlCol="0">
            <a:spAutoFit/>
          </a:bodyPr>
          <a:lstStyle/>
          <a:p>
            <a:r>
              <a:rPr lang="en-US" sz="2800" dirty="0"/>
              <a:t>This project is focused on building an AI-powered educational application that enhances the learning experience for students from Class 5 to 12. The system offers features like AI-generated flashcards, live classes, video lectures, adaptive quizzes, and a dynamic peer battle system. It supports multiple user types, including students, parents, and teachers, each with tailored functionalities. Parents can monitor their children’s progress, assign goals, and view performance analytics. Teachers can manage classes, assignments, and assessments through a dedicated portal. Students can access a personalized learning environment guided by machine learning models. These models include Decision Trees, TF-IDF, IRT, NLP, and Reinforcement Learning for content generation, student assessment, and progress optimization. The app also supports goal-based rewards, collaborative learning, and a full content tracker for health-related statistics. MongoDB is used for efficient and scalable data storage, while media content is managed via </a:t>
            </a:r>
            <a:r>
              <a:rPr lang="en-US" sz="2800" dirty="0" err="1"/>
              <a:t>Cloudinary</a:t>
            </a:r>
            <a:r>
              <a:rPr lang="en-US" sz="2800" dirty="0"/>
              <a:t>. The project aims to deliver an engaging, intelligent, and accessible learning platform tailored to student needs.</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424501" y="3672911"/>
            <a:ext cx="1700861" cy="1600811"/>
          </a:xfrm>
          <a:prstGeom prst="rect">
            <a:avLst/>
          </a:prstGeom>
          <a:ln>
            <a:solidFill>
              <a:schemeClr val="accent2"/>
            </a:solidFill>
          </a:ln>
        </p:spPr>
      </p:pic>
      <p:sp>
        <p:nvSpPr>
          <p:cNvPr id="17" name="TextBox 16"/>
          <p:cNvSpPr txBox="1"/>
          <p:nvPr/>
        </p:nvSpPr>
        <p:spPr>
          <a:xfrm>
            <a:off x="299805" y="382377"/>
            <a:ext cx="8907594" cy="683264"/>
          </a:xfrm>
          <a:prstGeom prst="rect">
            <a:avLst/>
          </a:prstGeom>
          <a:noFill/>
        </p:spPr>
        <p:txBody>
          <a:bodyPr wrap="square" rtlCol="0">
            <a:spAutoFit/>
          </a:bodyPr>
          <a:lstStyle/>
          <a:p>
            <a:r>
              <a:rPr lang="en-US" sz="3840" b="1" dirty="0"/>
              <a:t>TOOLS AND TECHNOLOGIES</a:t>
            </a:r>
          </a:p>
        </p:txBody>
      </p:sp>
      <p:pic>
        <p:nvPicPr>
          <p:cNvPr id="5" name="Picture 4" descr="A logo of a company&#10;&#10;Description automatically generated">
            <a:extLst>
              <a:ext uri="{FF2B5EF4-FFF2-40B4-BE49-F238E27FC236}">
                <a16:creationId xmlns:a16="http://schemas.microsoft.com/office/drawing/2014/main" id="{48D0E97C-7BF9-AE98-4C7C-69955137F4A7}"/>
              </a:ext>
            </a:extLst>
          </p:cNvPr>
          <p:cNvPicPr>
            <a:picLocks noChangeAspect="1"/>
          </p:cNvPicPr>
          <p:nvPr/>
        </p:nvPicPr>
        <p:blipFill rotWithShape="1">
          <a:blip r:embed="rId4"/>
          <a:srcRect l="10262" t="11971" r="9648" b="14608"/>
          <a:stretch/>
        </p:blipFill>
        <p:spPr>
          <a:xfrm>
            <a:off x="11764779" y="4731516"/>
            <a:ext cx="2518099" cy="2308443"/>
          </a:xfrm>
          <a:prstGeom prst="rect">
            <a:avLst/>
          </a:prstGeom>
          <a:ln>
            <a:solidFill>
              <a:schemeClr val="accent2"/>
            </a:solidFill>
          </a:ln>
        </p:spPr>
      </p:pic>
      <p:pic>
        <p:nvPicPr>
          <p:cNvPr id="29" name="Picture 28" descr="A logo for a software company&#10;&#10;Description automatically generated">
            <a:extLst>
              <a:ext uri="{FF2B5EF4-FFF2-40B4-BE49-F238E27FC236}">
                <a16:creationId xmlns:a16="http://schemas.microsoft.com/office/drawing/2014/main" id="{852E0FFB-9DD8-0172-A93E-B228724FA072}"/>
              </a:ext>
            </a:extLst>
          </p:cNvPr>
          <p:cNvPicPr>
            <a:picLocks noChangeAspect="1"/>
          </p:cNvPicPr>
          <p:nvPr/>
        </p:nvPicPr>
        <p:blipFill rotWithShape="1">
          <a:blip r:embed="rId5"/>
          <a:srcRect l="4261" t="25316" r="4609" b="22394"/>
          <a:stretch/>
        </p:blipFill>
        <p:spPr>
          <a:xfrm>
            <a:off x="6346173" y="1711972"/>
            <a:ext cx="2365501" cy="1454238"/>
          </a:xfrm>
          <a:prstGeom prst="rect">
            <a:avLst/>
          </a:prstGeom>
          <a:ln>
            <a:solidFill>
              <a:schemeClr val="accent2"/>
            </a:solidFill>
          </a:ln>
        </p:spPr>
      </p:pic>
      <p:pic>
        <p:nvPicPr>
          <p:cNvPr id="16" name="Picture 15">
            <a:extLst>
              <a:ext uri="{FF2B5EF4-FFF2-40B4-BE49-F238E27FC236}">
                <a16:creationId xmlns:a16="http://schemas.microsoft.com/office/drawing/2014/main" id="{AE63BCC7-8BD4-4A4E-8100-7B43F2692825}"/>
              </a:ext>
            </a:extLst>
          </p:cNvPr>
          <p:cNvPicPr>
            <a:picLocks noChangeAspect="1"/>
          </p:cNvPicPr>
          <p:nvPr/>
        </p:nvPicPr>
        <p:blipFill>
          <a:blip r:embed="rId6"/>
          <a:stretch>
            <a:fillRect/>
          </a:stretch>
        </p:blipFill>
        <p:spPr>
          <a:xfrm>
            <a:off x="424502" y="1771111"/>
            <a:ext cx="4244517" cy="1493019"/>
          </a:xfrm>
          <a:prstGeom prst="rect">
            <a:avLst/>
          </a:prstGeom>
          <a:ln>
            <a:solidFill>
              <a:schemeClr val="accent2"/>
            </a:solidFill>
          </a:ln>
        </p:spPr>
      </p:pic>
      <p:pic>
        <p:nvPicPr>
          <p:cNvPr id="19" name="Picture 18">
            <a:extLst>
              <a:ext uri="{FF2B5EF4-FFF2-40B4-BE49-F238E27FC236}">
                <a16:creationId xmlns:a16="http://schemas.microsoft.com/office/drawing/2014/main" id="{734A1912-430F-4E00-A7B6-7C23481779B1}"/>
              </a:ext>
            </a:extLst>
          </p:cNvPr>
          <p:cNvPicPr>
            <a:picLocks noChangeAspect="1"/>
          </p:cNvPicPr>
          <p:nvPr/>
        </p:nvPicPr>
        <p:blipFill>
          <a:blip r:embed="rId7"/>
          <a:stretch>
            <a:fillRect/>
          </a:stretch>
        </p:blipFill>
        <p:spPr>
          <a:xfrm>
            <a:off x="3584046" y="5674279"/>
            <a:ext cx="4209182" cy="1454238"/>
          </a:xfrm>
          <a:prstGeom prst="rect">
            <a:avLst/>
          </a:prstGeom>
          <a:ln>
            <a:solidFill>
              <a:schemeClr val="accent2"/>
            </a:solidFill>
          </a:ln>
        </p:spPr>
      </p:pic>
      <p:pic>
        <p:nvPicPr>
          <p:cNvPr id="1026" name="Picture 2" descr="GitHub">
            <a:extLst>
              <a:ext uri="{FF2B5EF4-FFF2-40B4-BE49-F238E27FC236}">
                <a16:creationId xmlns:a16="http://schemas.microsoft.com/office/drawing/2014/main" id="{986351CA-116D-4163-BF26-4D34D403DC3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8103" y="5592476"/>
            <a:ext cx="1869461" cy="1646824"/>
          </a:xfrm>
          <a:prstGeom prst="rect">
            <a:avLst/>
          </a:prstGeom>
          <a:noFill/>
          <a:ln>
            <a:solidFill>
              <a:schemeClr val="accent2"/>
            </a:solidFill>
          </a:ln>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6A3AF163-56C9-F9B5-4E5D-5C303212F885}"/>
              </a:ext>
            </a:extLst>
          </p:cNvPr>
          <p:cNvGrpSpPr/>
          <p:nvPr/>
        </p:nvGrpSpPr>
        <p:grpSpPr>
          <a:xfrm>
            <a:off x="4748067" y="3672911"/>
            <a:ext cx="1881136" cy="1659877"/>
            <a:chOff x="6012145" y="1936490"/>
            <a:chExt cx="1583046" cy="1702114"/>
          </a:xfrm>
        </p:grpSpPr>
        <p:sp>
          <p:nvSpPr>
            <p:cNvPr id="12" name="Rectangle 11">
              <a:extLst>
                <a:ext uri="{FF2B5EF4-FFF2-40B4-BE49-F238E27FC236}">
                  <a16:creationId xmlns:a16="http://schemas.microsoft.com/office/drawing/2014/main" id="{99C04A45-E94E-39DE-D177-6B0A9907D4C4}"/>
                </a:ext>
              </a:extLst>
            </p:cNvPr>
            <p:cNvSpPr/>
            <p:nvPr/>
          </p:nvSpPr>
          <p:spPr>
            <a:xfrm>
              <a:off x="6012145" y="2068917"/>
              <a:ext cx="1583046" cy="135102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880" dirty="0"/>
            </a:p>
          </p:txBody>
        </p:sp>
        <p:pic>
          <p:nvPicPr>
            <p:cNvPr id="10" name="Picture 9" descr="A green leaf in a shield&#10;&#10;AI-generated content may be incorrect.">
              <a:extLst>
                <a:ext uri="{FF2B5EF4-FFF2-40B4-BE49-F238E27FC236}">
                  <a16:creationId xmlns:a16="http://schemas.microsoft.com/office/drawing/2014/main" id="{ECFEEEE4-D512-F2B3-1A27-94AC13AFC168}"/>
                </a:ext>
              </a:extLst>
            </p:cNvPr>
            <p:cNvPicPr>
              <a:picLocks noChangeAspect="1"/>
            </p:cNvPicPr>
            <p:nvPr/>
          </p:nvPicPr>
          <p:blipFill>
            <a:blip r:embed="rId9"/>
            <a:stretch>
              <a:fillRect/>
            </a:stretch>
          </p:blipFill>
          <p:spPr>
            <a:xfrm>
              <a:off x="6049556" y="1936490"/>
              <a:ext cx="1452424" cy="1702114"/>
            </a:xfrm>
            <a:prstGeom prst="rect">
              <a:avLst/>
            </a:prstGeom>
          </p:spPr>
        </p:pic>
      </p:grpSp>
      <p:pic>
        <p:nvPicPr>
          <p:cNvPr id="15" name="Picture 14" descr="A white circle with black text&#10;&#10;AI-generated content may be incorrect.">
            <a:extLst>
              <a:ext uri="{FF2B5EF4-FFF2-40B4-BE49-F238E27FC236}">
                <a16:creationId xmlns:a16="http://schemas.microsoft.com/office/drawing/2014/main" id="{C81B6738-909F-7EBC-7BD1-8853AE0A109E}"/>
              </a:ext>
            </a:extLst>
          </p:cNvPr>
          <p:cNvPicPr>
            <a:picLocks noChangeAspect="1"/>
          </p:cNvPicPr>
          <p:nvPr/>
        </p:nvPicPr>
        <p:blipFill>
          <a:blip r:embed="rId10"/>
          <a:stretch>
            <a:fillRect/>
          </a:stretch>
        </p:blipFill>
        <p:spPr>
          <a:xfrm>
            <a:off x="10715387" y="1551249"/>
            <a:ext cx="2308443" cy="2308443"/>
          </a:xfrm>
          <a:prstGeom prst="rect">
            <a:avLst/>
          </a:prstGeom>
        </p:spPr>
      </p:pic>
      <p:pic>
        <p:nvPicPr>
          <p:cNvPr id="20" name="Picture 19" descr="A logo with a blue and orange circle&#10;&#10;AI-generated content may be incorrect.">
            <a:extLst>
              <a:ext uri="{FF2B5EF4-FFF2-40B4-BE49-F238E27FC236}">
                <a16:creationId xmlns:a16="http://schemas.microsoft.com/office/drawing/2014/main" id="{3A05AF44-AB9B-76DB-044A-727D0FE72C86}"/>
              </a:ext>
            </a:extLst>
          </p:cNvPr>
          <p:cNvPicPr>
            <a:picLocks noChangeAspect="1"/>
          </p:cNvPicPr>
          <p:nvPr/>
        </p:nvPicPr>
        <p:blipFill>
          <a:blip r:embed="rId11"/>
          <a:stretch>
            <a:fillRect/>
          </a:stretch>
        </p:blipFill>
        <p:spPr>
          <a:xfrm>
            <a:off x="9015791" y="4964661"/>
            <a:ext cx="2075298" cy="20752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 name="Text 0"/>
          <p:cNvSpPr/>
          <p:nvPr/>
        </p:nvSpPr>
        <p:spPr>
          <a:xfrm>
            <a:off x="990600" y="622082"/>
            <a:ext cx="6863657" cy="2856994"/>
          </a:xfrm>
          <a:prstGeom prst="rect">
            <a:avLst/>
          </a:prstGeom>
        </p:spPr>
        <p:txBody>
          <a:bodyPr vert="horz" lIns="91440" tIns="45720" rIns="91440" bIns="0" rtlCol="0" anchor="b">
            <a:normAutofit/>
          </a:bodyPr>
          <a:lstStyle/>
          <a:p>
            <a:pPr marL="0" indent="0" defTabSz="914400">
              <a:lnSpc>
                <a:spcPct val="90000"/>
              </a:lnSpc>
              <a:spcBef>
                <a:spcPct val="0"/>
              </a:spcBef>
              <a:spcAft>
                <a:spcPts val="600"/>
              </a:spcAft>
            </a:pPr>
            <a:r>
              <a:rPr lang="en-US" sz="5800" cap="all" spc="-61" dirty="0">
                <a:latin typeface="+mj-lt"/>
                <a:ea typeface="+mj-ea"/>
                <a:cs typeface="+mj-cs"/>
              </a:rPr>
              <a:t>BrainBee Modules</a:t>
            </a:r>
            <a:endParaRPr lang="en-US" sz="5800" cap="all" dirty="0">
              <a:latin typeface="+mj-lt"/>
              <a:ea typeface="+mj-ea"/>
              <a:cs typeface="+mj-cs"/>
            </a:endParaRPr>
          </a:p>
        </p:txBody>
      </p:sp>
      <p:sp>
        <p:nvSpPr>
          <p:cNvPr id="4" name="Text 1"/>
          <p:cNvSpPr/>
          <p:nvPr/>
        </p:nvSpPr>
        <p:spPr>
          <a:xfrm>
            <a:off x="990600" y="3784139"/>
            <a:ext cx="5486400" cy="1932772"/>
          </a:xfrm>
          <a:prstGeom prst="rect">
            <a:avLst/>
          </a:prstGeom>
        </p:spPr>
        <p:txBody>
          <a:bodyPr vert="horz" lIns="91440" tIns="91440" rIns="91440" bIns="91440" rtlCol="0">
            <a:normAutofit/>
          </a:bodyPr>
          <a:lstStyle/>
          <a:p>
            <a:pPr defTabSz="914400">
              <a:lnSpc>
                <a:spcPct val="120000"/>
              </a:lnSpc>
              <a:spcBef>
                <a:spcPts val="1000"/>
              </a:spcBef>
              <a:buClr>
                <a:schemeClr val="accent1"/>
              </a:buClr>
              <a:buSzPct val="100000"/>
            </a:pPr>
            <a:r>
              <a:rPr lang="en-US" sz="1900" cap="all" dirty="0"/>
              <a:t>A Smart Learning Platform for Engaging Education</a:t>
            </a:r>
          </a:p>
        </p:txBody>
      </p:sp>
      <p:pic>
        <p:nvPicPr>
          <p:cNvPr id="2" name="Image 0" descr="preencoded.png"/>
          <p:cNvPicPr>
            <a:picLocks noChangeAspect="1"/>
          </p:cNvPicPr>
          <p:nvPr/>
        </p:nvPicPr>
        <p:blipFill>
          <a:blip r:embed="rId3"/>
          <a:stretch>
            <a:fillRect/>
          </a:stretch>
        </p:blipFill>
        <p:spPr>
          <a:xfrm>
            <a:off x="8422923" y="966699"/>
            <a:ext cx="3733270" cy="55929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63798" y="2062401"/>
            <a:ext cx="7966591" cy="701278"/>
          </a:xfrm>
          <a:prstGeom prst="rect">
            <a:avLst/>
          </a:prstGeom>
          <a:noFill/>
          <a:ln/>
        </p:spPr>
        <p:txBody>
          <a:bodyPr wrap="non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Student: User Management</a:t>
            </a:r>
            <a:endParaRPr lang="en-US" sz="4400" dirty="0"/>
          </a:p>
        </p:txBody>
      </p:sp>
      <p:sp>
        <p:nvSpPr>
          <p:cNvPr id="3" name="Shape 1"/>
          <p:cNvSpPr/>
          <p:nvPr/>
        </p:nvSpPr>
        <p:spPr>
          <a:xfrm>
            <a:off x="863798" y="3534966"/>
            <a:ext cx="555308" cy="555308"/>
          </a:xfrm>
          <a:prstGeom prst="roundRect">
            <a:avLst>
              <a:gd name="adj" fmla="val 6667"/>
            </a:avLst>
          </a:prstGeom>
          <a:solidFill>
            <a:srgbClr val="F2EEEE"/>
          </a:solidFill>
          <a:ln/>
        </p:spPr>
        <p:txBody>
          <a:bodyPr/>
          <a:lstStyle/>
          <a:p>
            <a:endParaRPr lang="en-US"/>
          </a:p>
        </p:txBody>
      </p:sp>
      <p:sp>
        <p:nvSpPr>
          <p:cNvPr id="4" name="Text 2"/>
          <p:cNvSpPr/>
          <p:nvPr/>
        </p:nvSpPr>
        <p:spPr>
          <a:xfrm>
            <a:off x="973217" y="3602295"/>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1</a:t>
            </a:r>
            <a:endParaRPr lang="en-US" sz="2650" dirty="0"/>
          </a:p>
        </p:txBody>
      </p:sp>
      <p:sp>
        <p:nvSpPr>
          <p:cNvPr id="5" name="Text 3"/>
          <p:cNvSpPr/>
          <p:nvPr/>
        </p:nvSpPr>
        <p:spPr>
          <a:xfrm>
            <a:off x="1665923" y="3534966"/>
            <a:ext cx="280487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User Accounts</a:t>
            </a:r>
            <a:endParaRPr lang="en-US" sz="2200" dirty="0"/>
          </a:p>
        </p:txBody>
      </p:sp>
      <p:sp>
        <p:nvSpPr>
          <p:cNvPr id="6" name="Text 4"/>
          <p:cNvSpPr/>
          <p:nvPr/>
        </p:nvSpPr>
        <p:spPr>
          <a:xfrm>
            <a:off x="1665923" y="4033599"/>
            <a:ext cx="5525929" cy="74033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The system creates and manages user accounts for students and teachers.</a:t>
            </a:r>
            <a:endParaRPr lang="en-US" sz="1900" dirty="0"/>
          </a:p>
        </p:txBody>
      </p:sp>
      <p:sp>
        <p:nvSpPr>
          <p:cNvPr id="7" name="Shape 5"/>
          <p:cNvSpPr/>
          <p:nvPr/>
        </p:nvSpPr>
        <p:spPr>
          <a:xfrm>
            <a:off x="7438668" y="3534966"/>
            <a:ext cx="555308" cy="555308"/>
          </a:xfrm>
          <a:prstGeom prst="roundRect">
            <a:avLst>
              <a:gd name="adj" fmla="val 6667"/>
            </a:avLst>
          </a:prstGeom>
          <a:solidFill>
            <a:srgbClr val="F2EEEE"/>
          </a:solidFill>
          <a:ln/>
        </p:spPr>
        <p:txBody>
          <a:bodyPr/>
          <a:lstStyle/>
          <a:p>
            <a:endParaRPr lang="en-US"/>
          </a:p>
        </p:txBody>
      </p:sp>
      <p:sp>
        <p:nvSpPr>
          <p:cNvPr id="8" name="Text 6"/>
          <p:cNvSpPr/>
          <p:nvPr/>
        </p:nvSpPr>
        <p:spPr>
          <a:xfrm>
            <a:off x="7548086" y="3602295"/>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2</a:t>
            </a:r>
            <a:endParaRPr lang="en-US" sz="2650" dirty="0"/>
          </a:p>
        </p:txBody>
      </p:sp>
      <p:sp>
        <p:nvSpPr>
          <p:cNvPr id="9" name="Text 7"/>
          <p:cNvSpPr/>
          <p:nvPr/>
        </p:nvSpPr>
        <p:spPr>
          <a:xfrm>
            <a:off x="8240792" y="3534966"/>
            <a:ext cx="3109317"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Profile Customization</a:t>
            </a:r>
            <a:endParaRPr lang="en-US" sz="2200" dirty="0"/>
          </a:p>
        </p:txBody>
      </p:sp>
      <p:sp>
        <p:nvSpPr>
          <p:cNvPr id="10" name="Text 8"/>
          <p:cNvSpPr/>
          <p:nvPr/>
        </p:nvSpPr>
        <p:spPr>
          <a:xfrm>
            <a:off x="8240792" y="4033599"/>
            <a:ext cx="5525929" cy="74033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Students can update their profile details and select subjects.</a:t>
            </a:r>
            <a:endParaRPr lang="en-US" sz="1900" dirty="0"/>
          </a:p>
        </p:txBody>
      </p:sp>
      <p:sp>
        <p:nvSpPr>
          <p:cNvPr id="11" name="Shape 9"/>
          <p:cNvSpPr/>
          <p:nvPr/>
        </p:nvSpPr>
        <p:spPr>
          <a:xfrm>
            <a:off x="863798" y="5298400"/>
            <a:ext cx="555308" cy="555308"/>
          </a:xfrm>
          <a:prstGeom prst="roundRect">
            <a:avLst>
              <a:gd name="adj" fmla="val 6667"/>
            </a:avLst>
          </a:prstGeom>
          <a:solidFill>
            <a:srgbClr val="F2EEEE"/>
          </a:solidFill>
          <a:ln/>
        </p:spPr>
        <p:txBody>
          <a:bodyPr/>
          <a:lstStyle/>
          <a:p>
            <a:endParaRPr lang="en-US"/>
          </a:p>
        </p:txBody>
      </p:sp>
      <p:sp>
        <p:nvSpPr>
          <p:cNvPr id="12" name="Text 10"/>
          <p:cNvSpPr/>
          <p:nvPr/>
        </p:nvSpPr>
        <p:spPr>
          <a:xfrm>
            <a:off x="973217" y="5365730"/>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3</a:t>
            </a:r>
            <a:endParaRPr lang="en-US" sz="2650" dirty="0"/>
          </a:p>
        </p:txBody>
      </p:sp>
      <p:sp>
        <p:nvSpPr>
          <p:cNvPr id="13" name="Text 11"/>
          <p:cNvSpPr/>
          <p:nvPr/>
        </p:nvSpPr>
        <p:spPr>
          <a:xfrm>
            <a:off x="1665923" y="5298400"/>
            <a:ext cx="2875478"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Grade Management</a:t>
            </a:r>
            <a:endParaRPr lang="en-US" sz="2200" dirty="0"/>
          </a:p>
        </p:txBody>
      </p:sp>
      <p:sp>
        <p:nvSpPr>
          <p:cNvPr id="14" name="Text 12"/>
          <p:cNvSpPr/>
          <p:nvPr/>
        </p:nvSpPr>
        <p:spPr>
          <a:xfrm>
            <a:off x="1665923" y="5797034"/>
            <a:ext cx="5525929" cy="370165"/>
          </a:xfrm>
          <a:prstGeom prst="rect">
            <a:avLst/>
          </a:prstGeom>
          <a:noFill/>
          <a:ln/>
        </p:spPr>
        <p:txBody>
          <a:bodyPr wrap="non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Teachers manage student grades within the module.</a:t>
            </a:r>
            <a:endParaRPr lang="en-US" sz="1900" dirty="0"/>
          </a:p>
        </p:txBody>
      </p:sp>
      <p:sp>
        <p:nvSpPr>
          <p:cNvPr id="15" name="Shape 13"/>
          <p:cNvSpPr/>
          <p:nvPr/>
        </p:nvSpPr>
        <p:spPr>
          <a:xfrm>
            <a:off x="7438668" y="5298400"/>
            <a:ext cx="555308" cy="555308"/>
          </a:xfrm>
          <a:prstGeom prst="roundRect">
            <a:avLst>
              <a:gd name="adj" fmla="val 6667"/>
            </a:avLst>
          </a:prstGeom>
          <a:solidFill>
            <a:srgbClr val="F2EEEE"/>
          </a:solidFill>
          <a:ln/>
        </p:spPr>
        <p:txBody>
          <a:bodyPr/>
          <a:lstStyle/>
          <a:p>
            <a:endParaRPr lang="en-US"/>
          </a:p>
        </p:txBody>
      </p:sp>
      <p:sp>
        <p:nvSpPr>
          <p:cNvPr id="16" name="Text 14"/>
          <p:cNvSpPr/>
          <p:nvPr/>
        </p:nvSpPr>
        <p:spPr>
          <a:xfrm>
            <a:off x="7548086" y="5365730"/>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4</a:t>
            </a:r>
            <a:endParaRPr lang="en-US" sz="2650" dirty="0"/>
          </a:p>
        </p:txBody>
      </p:sp>
      <p:sp>
        <p:nvSpPr>
          <p:cNvPr id="17" name="Text 15"/>
          <p:cNvSpPr/>
          <p:nvPr/>
        </p:nvSpPr>
        <p:spPr>
          <a:xfrm>
            <a:off x="8240792" y="5298400"/>
            <a:ext cx="280487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Progress Sharing</a:t>
            </a:r>
            <a:endParaRPr lang="en-US" sz="2200" dirty="0"/>
          </a:p>
        </p:txBody>
      </p:sp>
      <p:sp>
        <p:nvSpPr>
          <p:cNvPr id="18" name="Text 16"/>
          <p:cNvSpPr/>
          <p:nvPr/>
        </p:nvSpPr>
        <p:spPr>
          <a:xfrm>
            <a:off x="8240792" y="5797034"/>
            <a:ext cx="5525929" cy="370165"/>
          </a:xfrm>
          <a:prstGeom prst="rect">
            <a:avLst/>
          </a:prstGeom>
          <a:noFill/>
          <a:ln/>
        </p:spPr>
        <p:txBody>
          <a:bodyPr wrap="non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Users can share their learning progress with peers.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63798" y="1692235"/>
            <a:ext cx="5609749" cy="701278"/>
          </a:xfrm>
          <a:prstGeom prst="rect">
            <a:avLst/>
          </a:prstGeom>
          <a:noFill/>
          <a:ln/>
        </p:spPr>
        <p:txBody>
          <a:bodyPr wrap="non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Student: Learning</a:t>
            </a:r>
            <a:endParaRPr lang="en-US" sz="4400" dirty="0"/>
          </a:p>
        </p:txBody>
      </p:sp>
      <p:sp>
        <p:nvSpPr>
          <p:cNvPr id="3" name="Shape 1"/>
          <p:cNvSpPr/>
          <p:nvPr/>
        </p:nvSpPr>
        <p:spPr>
          <a:xfrm>
            <a:off x="863798" y="3164800"/>
            <a:ext cx="555308" cy="555308"/>
          </a:xfrm>
          <a:prstGeom prst="roundRect">
            <a:avLst>
              <a:gd name="adj" fmla="val 6667"/>
            </a:avLst>
          </a:prstGeom>
          <a:solidFill>
            <a:srgbClr val="F2EEEE"/>
          </a:solidFill>
          <a:ln/>
        </p:spPr>
        <p:txBody>
          <a:bodyPr/>
          <a:lstStyle/>
          <a:p>
            <a:endParaRPr lang="en-US" dirty="0"/>
          </a:p>
        </p:txBody>
      </p:sp>
      <p:sp>
        <p:nvSpPr>
          <p:cNvPr id="4" name="Text 2"/>
          <p:cNvSpPr/>
          <p:nvPr/>
        </p:nvSpPr>
        <p:spPr>
          <a:xfrm>
            <a:off x="973217" y="3232130"/>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5</a:t>
            </a:r>
            <a:endParaRPr lang="en-US" sz="2650" dirty="0"/>
          </a:p>
        </p:txBody>
      </p:sp>
      <p:sp>
        <p:nvSpPr>
          <p:cNvPr id="5" name="Text 3"/>
          <p:cNvSpPr/>
          <p:nvPr/>
        </p:nvSpPr>
        <p:spPr>
          <a:xfrm>
            <a:off x="1665923" y="3164800"/>
            <a:ext cx="3871436"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AI-Powered Learning Tools</a:t>
            </a:r>
            <a:endParaRPr lang="en-US" sz="2200" dirty="0"/>
          </a:p>
        </p:txBody>
      </p:sp>
      <p:sp>
        <p:nvSpPr>
          <p:cNvPr id="6" name="Text 4"/>
          <p:cNvSpPr/>
          <p:nvPr/>
        </p:nvSpPr>
        <p:spPr>
          <a:xfrm>
            <a:off x="1665923" y="3663434"/>
            <a:ext cx="5525929" cy="74033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Personalized summaries adapt to your learning style. Flashcards are tailored for effective memorization.</a:t>
            </a:r>
            <a:endParaRPr lang="en-US" sz="1900" dirty="0"/>
          </a:p>
        </p:txBody>
      </p:sp>
      <p:sp>
        <p:nvSpPr>
          <p:cNvPr id="7" name="Shape 5"/>
          <p:cNvSpPr/>
          <p:nvPr/>
        </p:nvSpPr>
        <p:spPr>
          <a:xfrm>
            <a:off x="7438668" y="3164800"/>
            <a:ext cx="555308" cy="555308"/>
          </a:xfrm>
          <a:prstGeom prst="roundRect">
            <a:avLst>
              <a:gd name="adj" fmla="val 6667"/>
            </a:avLst>
          </a:prstGeom>
          <a:solidFill>
            <a:srgbClr val="F2EEEE"/>
          </a:solidFill>
          <a:ln/>
        </p:spPr>
        <p:txBody>
          <a:bodyPr/>
          <a:lstStyle/>
          <a:p>
            <a:endParaRPr lang="en-US"/>
          </a:p>
        </p:txBody>
      </p:sp>
      <p:sp>
        <p:nvSpPr>
          <p:cNvPr id="8" name="Text 6"/>
          <p:cNvSpPr/>
          <p:nvPr/>
        </p:nvSpPr>
        <p:spPr>
          <a:xfrm>
            <a:off x="7548086" y="3232130"/>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6</a:t>
            </a:r>
            <a:endParaRPr lang="en-US" sz="2650" dirty="0"/>
          </a:p>
        </p:txBody>
      </p:sp>
      <p:sp>
        <p:nvSpPr>
          <p:cNvPr id="9" name="Text 7"/>
          <p:cNvSpPr/>
          <p:nvPr/>
        </p:nvSpPr>
        <p:spPr>
          <a:xfrm>
            <a:off x="8240792" y="3164800"/>
            <a:ext cx="4041577"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Interactive Chatbot Support</a:t>
            </a:r>
            <a:endParaRPr lang="en-US" sz="2200" dirty="0"/>
          </a:p>
        </p:txBody>
      </p:sp>
      <p:sp>
        <p:nvSpPr>
          <p:cNvPr id="10" name="Text 8"/>
          <p:cNvSpPr/>
          <p:nvPr/>
        </p:nvSpPr>
        <p:spPr>
          <a:xfrm>
            <a:off x="8240792" y="3663434"/>
            <a:ext cx="5525929" cy="74033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Instant doubt clarification is available through the AI chatbot. Just select text for immediate assistance.</a:t>
            </a:r>
            <a:endParaRPr lang="en-US" sz="1900" dirty="0"/>
          </a:p>
        </p:txBody>
      </p:sp>
      <p:sp>
        <p:nvSpPr>
          <p:cNvPr id="11" name="Shape 9"/>
          <p:cNvSpPr/>
          <p:nvPr/>
        </p:nvSpPr>
        <p:spPr>
          <a:xfrm>
            <a:off x="863798" y="4928235"/>
            <a:ext cx="555308" cy="555308"/>
          </a:xfrm>
          <a:prstGeom prst="roundRect">
            <a:avLst>
              <a:gd name="adj" fmla="val 6667"/>
            </a:avLst>
          </a:prstGeom>
          <a:solidFill>
            <a:srgbClr val="F2EEEE"/>
          </a:solidFill>
          <a:ln/>
        </p:spPr>
        <p:txBody>
          <a:bodyPr/>
          <a:lstStyle/>
          <a:p>
            <a:endParaRPr lang="en-US"/>
          </a:p>
        </p:txBody>
      </p:sp>
      <p:sp>
        <p:nvSpPr>
          <p:cNvPr id="12" name="Text 10"/>
          <p:cNvSpPr/>
          <p:nvPr/>
        </p:nvSpPr>
        <p:spPr>
          <a:xfrm>
            <a:off x="973217" y="4995565"/>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7</a:t>
            </a:r>
            <a:endParaRPr lang="en-US" sz="2650" dirty="0"/>
          </a:p>
        </p:txBody>
      </p:sp>
      <p:sp>
        <p:nvSpPr>
          <p:cNvPr id="13" name="Text 11"/>
          <p:cNvSpPr/>
          <p:nvPr/>
        </p:nvSpPr>
        <p:spPr>
          <a:xfrm>
            <a:off x="1665923" y="4928235"/>
            <a:ext cx="5105995"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Comprehensive Class Management</a:t>
            </a:r>
            <a:endParaRPr lang="en-US" sz="2200" dirty="0"/>
          </a:p>
        </p:txBody>
      </p:sp>
      <p:sp>
        <p:nvSpPr>
          <p:cNvPr id="14" name="Text 12"/>
          <p:cNvSpPr/>
          <p:nvPr/>
        </p:nvSpPr>
        <p:spPr>
          <a:xfrm>
            <a:off x="1665923" y="5426869"/>
            <a:ext cx="5525929" cy="74033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Access class materials, discussions, and key details effortlessly. Track grades and performance trends.</a:t>
            </a:r>
            <a:endParaRPr lang="en-US" sz="1900" dirty="0"/>
          </a:p>
        </p:txBody>
      </p:sp>
      <p:sp>
        <p:nvSpPr>
          <p:cNvPr id="15" name="Shape 13"/>
          <p:cNvSpPr/>
          <p:nvPr/>
        </p:nvSpPr>
        <p:spPr>
          <a:xfrm>
            <a:off x="7438668" y="4928235"/>
            <a:ext cx="555308" cy="555308"/>
          </a:xfrm>
          <a:prstGeom prst="roundRect">
            <a:avLst>
              <a:gd name="adj" fmla="val 6667"/>
            </a:avLst>
          </a:prstGeom>
          <a:solidFill>
            <a:srgbClr val="F2EEEE"/>
          </a:solidFill>
          <a:ln/>
        </p:spPr>
        <p:txBody>
          <a:bodyPr/>
          <a:lstStyle/>
          <a:p>
            <a:endParaRPr lang="en-US"/>
          </a:p>
        </p:txBody>
      </p:sp>
      <p:sp>
        <p:nvSpPr>
          <p:cNvPr id="16" name="Text 14"/>
          <p:cNvSpPr/>
          <p:nvPr/>
        </p:nvSpPr>
        <p:spPr>
          <a:xfrm>
            <a:off x="7548086" y="4995565"/>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8</a:t>
            </a:r>
            <a:endParaRPr lang="en-US" sz="2650" dirty="0"/>
          </a:p>
        </p:txBody>
      </p:sp>
      <p:sp>
        <p:nvSpPr>
          <p:cNvPr id="17" name="Text 15"/>
          <p:cNvSpPr/>
          <p:nvPr/>
        </p:nvSpPr>
        <p:spPr>
          <a:xfrm>
            <a:off x="8240792" y="4928235"/>
            <a:ext cx="2846546"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Offline Accessibility</a:t>
            </a:r>
            <a:endParaRPr lang="en-US" sz="2200" dirty="0"/>
          </a:p>
        </p:txBody>
      </p:sp>
      <p:sp>
        <p:nvSpPr>
          <p:cNvPr id="18" name="Text 16"/>
          <p:cNvSpPr/>
          <p:nvPr/>
        </p:nvSpPr>
        <p:spPr>
          <a:xfrm>
            <a:off x="8240792" y="5426869"/>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Download notes and worksheets for studying on the go. Learn anytime, anywhere, with or without internet access.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63798" y="2062401"/>
            <a:ext cx="7865031" cy="701278"/>
          </a:xfrm>
          <a:prstGeom prst="rect">
            <a:avLst/>
          </a:prstGeom>
          <a:noFill/>
          <a:ln/>
        </p:spPr>
        <p:txBody>
          <a:bodyPr wrap="non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Student: Peer Competition </a:t>
            </a:r>
            <a:endParaRPr lang="en-US" sz="4400" dirty="0"/>
          </a:p>
        </p:txBody>
      </p:sp>
      <p:sp>
        <p:nvSpPr>
          <p:cNvPr id="3" name="Shape 1"/>
          <p:cNvSpPr/>
          <p:nvPr/>
        </p:nvSpPr>
        <p:spPr>
          <a:xfrm>
            <a:off x="863798" y="3534966"/>
            <a:ext cx="555308" cy="555308"/>
          </a:xfrm>
          <a:prstGeom prst="roundRect">
            <a:avLst>
              <a:gd name="adj" fmla="val 6667"/>
            </a:avLst>
          </a:prstGeom>
          <a:solidFill>
            <a:srgbClr val="F2EEEE"/>
          </a:solidFill>
          <a:ln/>
        </p:spPr>
        <p:txBody>
          <a:bodyPr/>
          <a:lstStyle/>
          <a:p>
            <a:endParaRPr lang="en-US"/>
          </a:p>
        </p:txBody>
      </p:sp>
      <p:sp>
        <p:nvSpPr>
          <p:cNvPr id="4" name="Text 2"/>
          <p:cNvSpPr/>
          <p:nvPr/>
        </p:nvSpPr>
        <p:spPr>
          <a:xfrm>
            <a:off x="973217" y="3602295"/>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9</a:t>
            </a:r>
            <a:endParaRPr lang="en-US" sz="2650" dirty="0"/>
          </a:p>
        </p:txBody>
      </p:sp>
      <p:sp>
        <p:nvSpPr>
          <p:cNvPr id="5" name="Text 3"/>
          <p:cNvSpPr/>
          <p:nvPr/>
        </p:nvSpPr>
        <p:spPr>
          <a:xfrm>
            <a:off x="1665923" y="3534966"/>
            <a:ext cx="3806309"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Engaging Peer Interaction</a:t>
            </a:r>
            <a:endParaRPr lang="en-US" sz="2200" dirty="0"/>
          </a:p>
        </p:txBody>
      </p:sp>
      <p:sp>
        <p:nvSpPr>
          <p:cNvPr id="6" name="Text 4"/>
          <p:cNvSpPr/>
          <p:nvPr/>
        </p:nvSpPr>
        <p:spPr>
          <a:xfrm>
            <a:off x="1665923" y="4033599"/>
            <a:ext cx="5525929" cy="74033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Promotes friendly competition with AI-generated quizzes and battles.</a:t>
            </a:r>
            <a:endParaRPr lang="en-US" sz="1900" dirty="0"/>
          </a:p>
        </p:txBody>
      </p:sp>
      <p:sp>
        <p:nvSpPr>
          <p:cNvPr id="7" name="Shape 5"/>
          <p:cNvSpPr/>
          <p:nvPr/>
        </p:nvSpPr>
        <p:spPr>
          <a:xfrm>
            <a:off x="7438668" y="3534966"/>
            <a:ext cx="555308" cy="555308"/>
          </a:xfrm>
          <a:prstGeom prst="roundRect">
            <a:avLst>
              <a:gd name="adj" fmla="val 6667"/>
            </a:avLst>
          </a:prstGeom>
          <a:solidFill>
            <a:srgbClr val="F2EEEE"/>
          </a:solidFill>
          <a:ln/>
        </p:spPr>
        <p:txBody>
          <a:bodyPr/>
          <a:lstStyle/>
          <a:p>
            <a:endParaRPr lang="en-US" dirty="0"/>
          </a:p>
        </p:txBody>
      </p:sp>
      <p:sp>
        <p:nvSpPr>
          <p:cNvPr id="8" name="Text 6"/>
          <p:cNvSpPr/>
          <p:nvPr/>
        </p:nvSpPr>
        <p:spPr>
          <a:xfrm>
            <a:off x="7548086" y="3602295"/>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10</a:t>
            </a:r>
            <a:endParaRPr lang="en-US" sz="2650" dirty="0"/>
          </a:p>
        </p:txBody>
      </p:sp>
      <p:sp>
        <p:nvSpPr>
          <p:cNvPr id="9" name="Text 7"/>
          <p:cNvSpPr/>
          <p:nvPr/>
        </p:nvSpPr>
        <p:spPr>
          <a:xfrm>
            <a:off x="8240792" y="3534966"/>
            <a:ext cx="4501396"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Enhanced Learning Experience</a:t>
            </a:r>
            <a:endParaRPr lang="en-US" sz="2200" dirty="0"/>
          </a:p>
        </p:txBody>
      </p:sp>
      <p:sp>
        <p:nvSpPr>
          <p:cNvPr id="10" name="Text 8"/>
          <p:cNvSpPr/>
          <p:nvPr/>
        </p:nvSpPr>
        <p:spPr>
          <a:xfrm>
            <a:off x="8240792" y="4033599"/>
            <a:ext cx="5525929" cy="370165"/>
          </a:xfrm>
          <a:prstGeom prst="rect">
            <a:avLst/>
          </a:prstGeom>
          <a:noFill/>
          <a:ln/>
        </p:spPr>
        <p:txBody>
          <a:bodyPr wrap="non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Students challenge each other with varied topics.</a:t>
            </a:r>
            <a:endParaRPr lang="en-US" sz="1900" dirty="0"/>
          </a:p>
        </p:txBody>
      </p:sp>
      <p:sp>
        <p:nvSpPr>
          <p:cNvPr id="11" name="Shape 9"/>
          <p:cNvSpPr/>
          <p:nvPr/>
        </p:nvSpPr>
        <p:spPr>
          <a:xfrm>
            <a:off x="863798" y="5298400"/>
            <a:ext cx="555308" cy="555308"/>
          </a:xfrm>
          <a:prstGeom prst="roundRect">
            <a:avLst>
              <a:gd name="adj" fmla="val 6667"/>
            </a:avLst>
          </a:prstGeom>
          <a:solidFill>
            <a:srgbClr val="F2EEEE"/>
          </a:solidFill>
          <a:ln/>
        </p:spPr>
        <p:txBody>
          <a:bodyPr/>
          <a:lstStyle/>
          <a:p>
            <a:endParaRPr lang="en-US"/>
          </a:p>
        </p:txBody>
      </p:sp>
      <p:sp>
        <p:nvSpPr>
          <p:cNvPr id="12" name="Text 10"/>
          <p:cNvSpPr/>
          <p:nvPr/>
        </p:nvSpPr>
        <p:spPr>
          <a:xfrm>
            <a:off x="973217" y="5365730"/>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11</a:t>
            </a:r>
            <a:endParaRPr lang="en-US" sz="2650" dirty="0"/>
          </a:p>
        </p:txBody>
      </p:sp>
      <p:sp>
        <p:nvSpPr>
          <p:cNvPr id="13" name="Text 11"/>
          <p:cNvSpPr/>
          <p:nvPr/>
        </p:nvSpPr>
        <p:spPr>
          <a:xfrm>
            <a:off x="1665923" y="5298400"/>
            <a:ext cx="3031927"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Community Features</a:t>
            </a:r>
            <a:endParaRPr lang="en-US" sz="2200" dirty="0"/>
          </a:p>
        </p:txBody>
      </p:sp>
      <p:sp>
        <p:nvSpPr>
          <p:cNvPr id="14" name="Text 12"/>
          <p:cNvSpPr/>
          <p:nvPr/>
        </p:nvSpPr>
        <p:spPr>
          <a:xfrm>
            <a:off x="1665923" y="5797034"/>
            <a:ext cx="12100679" cy="370165"/>
          </a:xfrm>
          <a:prstGeom prst="rect">
            <a:avLst/>
          </a:prstGeom>
          <a:noFill/>
          <a:ln/>
        </p:spPr>
        <p:txBody>
          <a:bodyPr wrap="non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Enables students to manage friends and track battle stats.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63798" y="1507093"/>
            <a:ext cx="12707898" cy="701278"/>
          </a:xfrm>
          <a:prstGeom prst="rect">
            <a:avLst/>
          </a:prstGeom>
          <a:noFill/>
          <a:ln/>
        </p:spPr>
        <p:txBody>
          <a:bodyPr wrap="non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Student: Achievement and Rewards Module</a:t>
            </a:r>
            <a:endParaRPr lang="en-US" sz="4400" dirty="0"/>
          </a:p>
        </p:txBody>
      </p:sp>
      <p:sp>
        <p:nvSpPr>
          <p:cNvPr id="3" name="Shape 1"/>
          <p:cNvSpPr/>
          <p:nvPr/>
        </p:nvSpPr>
        <p:spPr>
          <a:xfrm>
            <a:off x="863798" y="2979658"/>
            <a:ext cx="555308" cy="555308"/>
          </a:xfrm>
          <a:prstGeom prst="roundRect">
            <a:avLst>
              <a:gd name="adj" fmla="val 6667"/>
            </a:avLst>
          </a:prstGeom>
          <a:solidFill>
            <a:srgbClr val="F2EEEE"/>
          </a:solidFill>
          <a:ln/>
        </p:spPr>
        <p:txBody>
          <a:bodyPr/>
          <a:lstStyle/>
          <a:p>
            <a:endParaRPr lang="en-US" dirty="0"/>
          </a:p>
        </p:txBody>
      </p:sp>
      <p:sp>
        <p:nvSpPr>
          <p:cNvPr id="4" name="Text 2"/>
          <p:cNvSpPr/>
          <p:nvPr/>
        </p:nvSpPr>
        <p:spPr>
          <a:xfrm>
            <a:off x="973217" y="30469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12</a:t>
            </a:r>
            <a:endParaRPr lang="en-US" sz="2650" dirty="0"/>
          </a:p>
        </p:txBody>
      </p:sp>
      <p:sp>
        <p:nvSpPr>
          <p:cNvPr id="5" name="Text 3"/>
          <p:cNvSpPr/>
          <p:nvPr/>
        </p:nvSpPr>
        <p:spPr>
          <a:xfrm>
            <a:off x="1665923" y="2979658"/>
            <a:ext cx="280487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Digital Recognition</a:t>
            </a:r>
            <a:endParaRPr lang="en-US" sz="2200" dirty="0"/>
          </a:p>
        </p:txBody>
      </p:sp>
      <p:sp>
        <p:nvSpPr>
          <p:cNvPr id="6" name="Text 4"/>
          <p:cNvSpPr/>
          <p:nvPr/>
        </p:nvSpPr>
        <p:spPr>
          <a:xfrm>
            <a:off x="1665923" y="34782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Students showcase their earned badges on personalized profiles. Achievements unlock as learners master specific educational milestones.</a:t>
            </a:r>
            <a:endParaRPr lang="en-US" sz="1900" dirty="0"/>
          </a:p>
        </p:txBody>
      </p:sp>
      <p:sp>
        <p:nvSpPr>
          <p:cNvPr id="7" name="Shape 5"/>
          <p:cNvSpPr/>
          <p:nvPr/>
        </p:nvSpPr>
        <p:spPr>
          <a:xfrm>
            <a:off x="7438668" y="2979658"/>
            <a:ext cx="555308" cy="555308"/>
          </a:xfrm>
          <a:prstGeom prst="roundRect">
            <a:avLst>
              <a:gd name="adj" fmla="val 6667"/>
            </a:avLst>
          </a:prstGeom>
          <a:solidFill>
            <a:srgbClr val="F2EEEE"/>
          </a:solidFill>
          <a:ln/>
        </p:spPr>
        <p:txBody>
          <a:bodyPr/>
          <a:lstStyle/>
          <a:p>
            <a:endParaRPr lang="en-US"/>
          </a:p>
        </p:txBody>
      </p:sp>
      <p:sp>
        <p:nvSpPr>
          <p:cNvPr id="8" name="Text 6"/>
          <p:cNvSpPr/>
          <p:nvPr/>
        </p:nvSpPr>
        <p:spPr>
          <a:xfrm>
            <a:off x="7548086" y="30469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13</a:t>
            </a:r>
            <a:endParaRPr lang="en-US" sz="2650" dirty="0"/>
          </a:p>
        </p:txBody>
      </p:sp>
      <p:sp>
        <p:nvSpPr>
          <p:cNvPr id="9" name="Text 7"/>
          <p:cNvSpPr/>
          <p:nvPr/>
        </p:nvSpPr>
        <p:spPr>
          <a:xfrm>
            <a:off x="8240792" y="2979658"/>
            <a:ext cx="3520321"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Certificate Management</a:t>
            </a:r>
            <a:endParaRPr lang="en-US" sz="2200" dirty="0"/>
          </a:p>
        </p:txBody>
      </p:sp>
      <p:sp>
        <p:nvSpPr>
          <p:cNvPr id="10" name="Text 8"/>
          <p:cNvSpPr/>
          <p:nvPr/>
        </p:nvSpPr>
        <p:spPr>
          <a:xfrm>
            <a:off x="8240792" y="34782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Digital certificates mark significant educational accomplishments. Students can view, download, and share their accolades with peers.</a:t>
            </a:r>
            <a:endParaRPr lang="en-US" sz="1900" dirty="0"/>
          </a:p>
        </p:txBody>
      </p:sp>
      <p:sp>
        <p:nvSpPr>
          <p:cNvPr id="11" name="Shape 9"/>
          <p:cNvSpPr/>
          <p:nvPr/>
        </p:nvSpPr>
        <p:spPr>
          <a:xfrm>
            <a:off x="812211" y="5113258"/>
            <a:ext cx="555308" cy="555308"/>
          </a:xfrm>
          <a:prstGeom prst="roundRect">
            <a:avLst>
              <a:gd name="adj" fmla="val 6667"/>
            </a:avLst>
          </a:prstGeom>
          <a:solidFill>
            <a:srgbClr val="F2EEEE"/>
          </a:solidFill>
          <a:ln/>
        </p:spPr>
        <p:txBody>
          <a:bodyPr/>
          <a:lstStyle/>
          <a:p>
            <a:endParaRPr lang="en-US" dirty="0"/>
          </a:p>
        </p:txBody>
      </p:sp>
      <p:sp>
        <p:nvSpPr>
          <p:cNvPr id="12" name="Text 10"/>
          <p:cNvSpPr/>
          <p:nvPr/>
        </p:nvSpPr>
        <p:spPr>
          <a:xfrm>
            <a:off x="973217" y="51805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14</a:t>
            </a:r>
            <a:endParaRPr lang="en-US" sz="2650" dirty="0"/>
          </a:p>
        </p:txBody>
      </p:sp>
      <p:sp>
        <p:nvSpPr>
          <p:cNvPr id="13" name="Text 11"/>
          <p:cNvSpPr/>
          <p:nvPr/>
        </p:nvSpPr>
        <p:spPr>
          <a:xfrm>
            <a:off x="1665923" y="5113258"/>
            <a:ext cx="280487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Reward Economy</a:t>
            </a:r>
            <a:endParaRPr lang="en-US" sz="2200" dirty="0"/>
          </a:p>
        </p:txBody>
      </p:sp>
      <p:sp>
        <p:nvSpPr>
          <p:cNvPr id="14" name="Text 12"/>
          <p:cNvSpPr/>
          <p:nvPr/>
        </p:nvSpPr>
        <p:spPr>
          <a:xfrm>
            <a:off x="1665923" y="56118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Earned coins create motivation through tangible benefits. Students redeem points for educational resources or special privileges.</a:t>
            </a:r>
            <a:endParaRPr lang="en-US" sz="1900" dirty="0"/>
          </a:p>
        </p:txBody>
      </p:sp>
      <p:sp>
        <p:nvSpPr>
          <p:cNvPr id="15" name="Shape 13"/>
          <p:cNvSpPr/>
          <p:nvPr/>
        </p:nvSpPr>
        <p:spPr>
          <a:xfrm>
            <a:off x="7438668" y="5113258"/>
            <a:ext cx="555308" cy="555308"/>
          </a:xfrm>
          <a:prstGeom prst="roundRect">
            <a:avLst>
              <a:gd name="adj" fmla="val 6667"/>
            </a:avLst>
          </a:prstGeom>
          <a:solidFill>
            <a:srgbClr val="F2EEEE"/>
          </a:solidFill>
          <a:ln/>
        </p:spPr>
        <p:txBody>
          <a:bodyPr/>
          <a:lstStyle/>
          <a:p>
            <a:endParaRPr lang="en-US"/>
          </a:p>
        </p:txBody>
      </p:sp>
      <p:sp>
        <p:nvSpPr>
          <p:cNvPr id="16" name="Text 14"/>
          <p:cNvSpPr/>
          <p:nvPr/>
        </p:nvSpPr>
        <p:spPr>
          <a:xfrm>
            <a:off x="7548086" y="51805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15</a:t>
            </a:r>
            <a:endParaRPr lang="en-US" sz="2650" dirty="0"/>
          </a:p>
        </p:txBody>
      </p:sp>
      <p:sp>
        <p:nvSpPr>
          <p:cNvPr id="17" name="Text 15"/>
          <p:cNvSpPr/>
          <p:nvPr/>
        </p:nvSpPr>
        <p:spPr>
          <a:xfrm>
            <a:off x="8240792" y="5113258"/>
            <a:ext cx="2805351"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Quest Participation</a:t>
            </a:r>
            <a:endParaRPr lang="en-US" sz="2200" dirty="0"/>
          </a:p>
        </p:txBody>
      </p:sp>
      <p:sp>
        <p:nvSpPr>
          <p:cNvPr id="18" name="Text 16"/>
          <p:cNvSpPr/>
          <p:nvPr/>
        </p:nvSpPr>
        <p:spPr>
          <a:xfrm>
            <a:off x="8240792" y="56118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Interactive challenges offer additional coin-earning opportunities. Quests encourage exploration beyond standard curriculum requirements.</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63798" y="1507093"/>
            <a:ext cx="11514773" cy="701278"/>
          </a:xfrm>
          <a:prstGeom prst="rect">
            <a:avLst/>
          </a:prstGeom>
          <a:noFill/>
          <a:ln/>
        </p:spPr>
        <p:txBody>
          <a:bodyPr wrap="non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Student: Performance Analytics Module</a:t>
            </a:r>
            <a:endParaRPr lang="en-US" sz="4400" dirty="0"/>
          </a:p>
        </p:txBody>
      </p:sp>
      <p:sp>
        <p:nvSpPr>
          <p:cNvPr id="3" name="Shape 1"/>
          <p:cNvSpPr/>
          <p:nvPr/>
        </p:nvSpPr>
        <p:spPr>
          <a:xfrm>
            <a:off x="863798" y="2979658"/>
            <a:ext cx="555308" cy="555308"/>
          </a:xfrm>
          <a:prstGeom prst="roundRect">
            <a:avLst>
              <a:gd name="adj" fmla="val 6667"/>
            </a:avLst>
          </a:prstGeom>
          <a:solidFill>
            <a:srgbClr val="F2EEEE"/>
          </a:solidFill>
          <a:ln/>
        </p:spPr>
        <p:txBody>
          <a:bodyPr/>
          <a:lstStyle/>
          <a:p>
            <a:endParaRPr lang="en-US"/>
          </a:p>
        </p:txBody>
      </p:sp>
      <p:sp>
        <p:nvSpPr>
          <p:cNvPr id="4" name="Text 2"/>
          <p:cNvSpPr/>
          <p:nvPr/>
        </p:nvSpPr>
        <p:spPr>
          <a:xfrm>
            <a:off x="973217" y="30469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16</a:t>
            </a:r>
            <a:endParaRPr lang="en-US" sz="2650" dirty="0"/>
          </a:p>
        </p:txBody>
      </p:sp>
      <p:sp>
        <p:nvSpPr>
          <p:cNvPr id="5" name="Text 3"/>
          <p:cNvSpPr/>
          <p:nvPr/>
        </p:nvSpPr>
        <p:spPr>
          <a:xfrm>
            <a:off x="1665923" y="2979658"/>
            <a:ext cx="4482941"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Comprehensive Score Tracking</a:t>
            </a:r>
            <a:endParaRPr lang="en-US" sz="2200" dirty="0"/>
          </a:p>
        </p:txBody>
      </p:sp>
      <p:sp>
        <p:nvSpPr>
          <p:cNvPr id="6" name="Text 4"/>
          <p:cNvSpPr/>
          <p:nvPr/>
        </p:nvSpPr>
        <p:spPr>
          <a:xfrm>
            <a:off x="1665923" y="34782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Students access their academic progress at a glance. View overall performance metrics and detailed book-by-book analysis.</a:t>
            </a:r>
            <a:endParaRPr lang="en-US" sz="1900" dirty="0"/>
          </a:p>
        </p:txBody>
      </p:sp>
      <p:sp>
        <p:nvSpPr>
          <p:cNvPr id="7" name="Shape 5"/>
          <p:cNvSpPr/>
          <p:nvPr/>
        </p:nvSpPr>
        <p:spPr>
          <a:xfrm>
            <a:off x="7438668" y="2979658"/>
            <a:ext cx="555308" cy="555308"/>
          </a:xfrm>
          <a:prstGeom prst="roundRect">
            <a:avLst>
              <a:gd name="adj" fmla="val 6667"/>
            </a:avLst>
          </a:prstGeom>
          <a:solidFill>
            <a:srgbClr val="F2EEEE"/>
          </a:solidFill>
          <a:ln/>
        </p:spPr>
        <p:txBody>
          <a:bodyPr/>
          <a:lstStyle/>
          <a:p>
            <a:endParaRPr lang="en-US"/>
          </a:p>
        </p:txBody>
      </p:sp>
      <p:sp>
        <p:nvSpPr>
          <p:cNvPr id="8" name="Text 6"/>
          <p:cNvSpPr/>
          <p:nvPr/>
        </p:nvSpPr>
        <p:spPr>
          <a:xfrm>
            <a:off x="7548086" y="30469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17</a:t>
            </a:r>
            <a:endParaRPr lang="en-US" sz="2650" dirty="0"/>
          </a:p>
        </p:txBody>
      </p:sp>
      <p:sp>
        <p:nvSpPr>
          <p:cNvPr id="9" name="Text 7"/>
          <p:cNvSpPr/>
          <p:nvPr/>
        </p:nvSpPr>
        <p:spPr>
          <a:xfrm>
            <a:off x="8240792" y="2979658"/>
            <a:ext cx="3181350"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Detailed Report Cards</a:t>
            </a:r>
            <a:endParaRPr lang="en-US" sz="2200" dirty="0"/>
          </a:p>
        </p:txBody>
      </p:sp>
      <p:sp>
        <p:nvSpPr>
          <p:cNvPr id="10" name="Text 8"/>
          <p:cNvSpPr/>
          <p:nvPr/>
        </p:nvSpPr>
        <p:spPr>
          <a:xfrm>
            <a:off x="8240792" y="34782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In-depth performance breakdowns for each educational resource. Identify strengths and areas for improvement with intuitive visual data.</a:t>
            </a:r>
            <a:endParaRPr lang="en-US" sz="1900" dirty="0"/>
          </a:p>
        </p:txBody>
      </p:sp>
      <p:sp>
        <p:nvSpPr>
          <p:cNvPr id="11" name="Shape 9"/>
          <p:cNvSpPr/>
          <p:nvPr/>
        </p:nvSpPr>
        <p:spPr>
          <a:xfrm>
            <a:off x="863798" y="5113258"/>
            <a:ext cx="555308" cy="555308"/>
          </a:xfrm>
          <a:prstGeom prst="roundRect">
            <a:avLst>
              <a:gd name="adj" fmla="val 6667"/>
            </a:avLst>
          </a:prstGeom>
          <a:solidFill>
            <a:srgbClr val="F2EEEE"/>
          </a:solidFill>
          <a:ln/>
        </p:spPr>
        <p:txBody>
          <a:bodyPr/>
          <a:lstStyle/>
          <a:p>
            <a:endParaRPr lang="en-US"/>
          </a:p>
        </p:txBody>
      </p:sp>
      <p:sp>
        <p:nvSpPr>
          <p:cNvPr id="12" name="Text 10"/>
          <p:cNvSpPr/>
          <p:nvPr/>
        </p:nvSpPr>
        <p:spPr>
          <a:xfrm>
            <a:off x="973217" y="51805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18</a:t>
            </a:r>
            <a:endParaRPr lang="en-US" sz="2650" dirty="0"/>
          </a:p>
        </p:txBody>
      </p:sp>
      <p:sp>
        <p:nvSpPr>
          <p:cNvPr id="13" name="Text 11"/>
          <p:cNvSpPr/>
          <p:nvPr/>
        </p:nvSpPr>
        <p:spPr>
          <a:xfrm>
            <a:off x="1665923" y="5113258"/>
            <a:ext cx="3328868"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Progress Leaderboards</a:t>
            </a:r>
            <a:endParaRPr lang="en-US" sz="2200" dirty="0"/>
          </a:p>
        </p:txBody>
      </p:sp>
      <p:sp>
        <p:nvSpPr>
          <p:cNvPr id="14" name="Text 12"/>
          <p:cNvSpPr/>
          <p:nvPr/>
        </p:nvSpPr>
        <p:spPr>
          <a:xfrm>
            <a:off x="1665923" y="56118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Track performance rankings across multiple timeframes. Compare weekly, monthly, and yearly standings against peers.</a:t>
            </a:r>
            <a:endParaRPr lang="en-US" sz="1900" dirty="0"/>
          </a:p>
        </p:txBody>
      </p:sp>
      <p:sp>
        <p:nvSpPr>
          <p:cNvPr id="15" name="Shape 13"/>
          <p:cNvSpPr/>
          <p:nvPr/>
        </p:nvSpPr>
        <p:spPr>
          <a:xfrm>
            <a:off x="7438668" y="5113258"/>
            <a:ext cx="555308" cy="555308"/>
          </a:xfrm>
          <a:prstGeom prst="roundRect">
            <a:avLst>
              <a:gd name="adj" fmla="val 6667"/>
            </a:avLst>
          </a:prstGeom>
          <a:solidFill>
            <a:srgbClr val="F2EEEE"/>
          </a:solidFill>
          <a:ln/>
        </p:spPr>
        <p:txBody>
          <a:bodyPr/>
          <a:lstStyle/>
          <a:p>
            <a:endParaRPr lang="en-US"/>
          </a:p>
        </p:txBody>
      </p:sp>
      <p:sp>
        <p:nvSpPr>
          <p:cNvPr id="16" name="Text 14"/>
          <p:cNvSpPr/>
          <p:nvPr/>
        </p:nvSpPr>
        <p:spPr>
          <a:xfrm>
            <a:off x="7548086" y="51805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19</a:t>
            </a:r>
            <a:endParaRPr lang="en-US" sz="2650" dirty="0"/>
          </a:p>
        </p:txBody>
      </p:sp>
      <p:sp>
        <p:nvSpPr>
          <p:cNvPr id="17" name="Text 15"/>
          <p:cNvSpPr/>
          <p:nvPr/>
        </p:nvSpPr>
        <p:spPr>
          <a:xfrm>
            <a:off x="8240792" y="5113258"/>
            <a:ext cx="3098959"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Data-Driven Learning</a:t>
            </a:r>
            <a:endParaRPr lang="en-US" sz="2200" dirty="0"/>
          </a:p>
        </p:txBody>
      </p:sp>
      <p:sp>
        <p:nvSpPr>
          <p:cNvPr id="18" name="Text 16"/>
          <p:cNvSpPr/>
          <p:nvPr/>
        </p:nvSpPr>
        <p:spPr>
          <a:xfrm>
            <a:off x="8240792" y="56118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Transform performance metrics into actionable insights. Make informed decisions about study habits and focus areas.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63798" y="1507093"/>
            <a:ext cx="11067812" cy="701278"/>
          </a:xfrm>
          <a:prstGeom prst="rect">
            <a:avLst/>
          </a:prstGeom>
          <a:noFill/>
          <a:ln/>
        </p:spPr>
        <p:txBody>
          <a:bodyPr wrap="non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Student: AI Powered Assistant Module</a:t>
            </a:r>
            <a:endParaRPr lang="en-US" sz="4400" dirty="0"/>
          </a:p>
        </p:txBody>
      </p:sp>
      <p:sp>
        <p:nvSpPr>
          <p:cNvPr id="3" name="Shape 1"/>
          <p:cNvSpPr/>
          <p:nvPr/>
        </p:nvSpPr>
        <p:spPr>
          <a:xfrm>
            <a:off x="863798" y="2979658"/>
            <a:ext cx="555308" cy="555308"/>
          </a:xfrm>
          <a:prstGeom prst="roundRect">
            <a:avLst>
              <a:gd name="adj" fmla="val 6667"/>
            </a:avLst>
          </a:prstGeom>
          <a:solidFill>
            <a:srgbClr val="F2EEEE"/>
          </a:solidFill>
          <a:ln/>
        </p:spPr>
        <p:txBody>
          <a:bodyPr/>
          <a:lstStyle/>
          <a:p>
            <a:endParaRPr lang="en-US"/>
          </a:p>
        </p:txBody>
      </p:sp>
      <p:sp>
        <p:nvSpPr>
          <p:cNvPr id="4" name="Text 2"/>
          <p:cNvSpPr/>
          <p:nvPr/>
        </p:nvSpPr>
        <p:spPr>
          <a:xfrm>
            <a:off x="973217" y="30469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20</a:t>
            </a:r>
            <a:endParaRPr lang="en-US" sz="2650" dirty="0"/>
          </a:p>
        </p:txBody>
      </p:sp>
      <p:sp>
        <p:nvSpPr>
          <p:cNvPr id="5" name="Text 3"/>
          <p:cNvSpPr/>
          <p:nvPr/>
        </p:nvSpPr>
        <p:spPr>
          <a:xfrm>
            <a:off x="1665923" y="2979658"/>
            <a:ext cx="3647599"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Smart Academic Support</a:t>
            </a:r>
            <a:endParaRPr lang="en-US" sz="2200" dirty="0"/>
          </a:p>
        </p:txBody>
      </p:sp>
      <p:sp>
        <p:nvSpPr>
          <p:cNvPr id="6" name="Text 4"/>
          <p:cNvSpPr/>
          <p:nvPr/>
        </p:nvSpPr>
        <p:spPr>
          <a:xfrm>
            <a:off x="1665923" y="34782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Our AI assistant provides instant answers to student questions. The model is trained specifically on course materials for accurate guidance.</a:t>
            </a:r>
            <a:endParaRPr lang="en-US" sz="1900" dirty="0"/>
          </a:p>
        </p:txBody>
      </p:sp>
      <p:sp>
        <p:nvSpPr>
          <p:cNvPr id="7" name="Shape 5"/>
          <p:cNvSpPr/>
          <p:nvPr/>
        </p:nvSpPr>
        <p:spPr>
          <a:xfrm>
            <a:off x="7438668" y="2979658"/>
            <a:ext cx="555308" cy="555308"/>
          </a:xfrm>
          <a:prstGeom prst="roundRect">
            <a:avLst>
              <a:gd name="adj" fmla="val 6667"/>
            </a:avLst>
          </a:prstGeom>
          <a:solidFill>
            <a:srgbClr val="F2EEEE"/>
          </a:solidFill>
          <a:ln/>
        </p:spPr>
        <p:txBody>
          <a:bodyPr/>
          <a:lstStyle/>
          <a:p>
            <a:endParaRPr lang="en-US"/>
          </a:p>
        </p:txBody>
      </p:sp>
      <p:sp>
        <p:nvSpPr>
          <p:cNvPr id="8" name="Text 6"/>
          <p:cNvSpPr/>
          <p:nvPr/>
        </p:nvSpPr>
        <p:spPr>
          <a:xfrm>
            <a:off x="7548086" y="30469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21</a:t>
            </a:r>
            <a:endParaRPr lang="en-US" sz="2650" dirty="0"/>
          </a:p>
        </p:txBody>
      </p:sp>
      <p:sp>
        <p:nvSpPr>
          <p:cNvPr id="9" name="Text 7"/>
          <p:cNvSpPr/>
          <p:nvPr/>
        </p:nvSpPr>
        <p:spPr>
          <a:xfrm>
            <a:off x="8240792" y="2979658"/>
            <a:ext cx="302204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Continuous Learning</a:t>
            </a:r>
            <a:endParaRPr lang="en-US" sz="2200" dirty="0"/>
          </a:p>
        </p:txBody>
      </p:sp>
      <p:sp>
        <p:nvSpPr>
          <p:cNvPr id="10" name="Text 8"/>
          <p:cNvSpPr/>
          <p:nvPr/>
        </p:nvSpPr>
        <p:spPr>
          <a:xfrm>
            <a:off x="8240792" y="34782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The assistant improves with each interaction. It adapts to students' learning styles and common question patterns.</a:t>
            </a:r>
            <a:endParaRPr lang="en-US" sz="1900" dirty="0"/>
          </a:p>
        </p:txBody>
      </p:sp>
      <p:sp>
        <p:nvSpPr>
          <p:cNvPr id="11" name="Shape 9"/>
          <p:cNvSpPr/>
          <p:nvPr/>
        </p:nvSpPr>
        <p:spPr>
          <a:xfrm>
            <a:off x="863798" y="5113258"/>
            <a:ext cx="555308" cy="555308"/>
          </a:xfrm>
          <a:prstGeom prst="roundRect">
            <a:avLst>
              <a:gd name="adj" fmla="val 6667"/>
            </a:avLst>
          </a:prstGeom>
          <a:solidFill>
            <a:srgbClr val="F2EEEE"/>
          </a:solidFill>
          <a:ln/>
        </p:spPr>
        <p:txBody>
          <a:bodyPr/>
          <a:lstStyle/>
          <a:p>
            <a:endParaRPr lang="en-US"/>
          </a:p>
        </p:txBody>
      </p:sp>
      <p:sp>
        <p:nvSpPr>
          <p:cNvPr id="12" name="Text 10"/>
          <p:cNvSpPr/>
          <p:nvPr/>
        </p:nvSpPr>
        <p:spPr>
          <a:xfrm>
            <a:off x="973217" y="51805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22</a:t>
            </a:r>
            <a:endParaRPr lang="en-US" sz="2650" dirty="0"/>
          </a:p>
        </p:txBody>
      </p:sp>
      <p:sp>
        <p:nvSpPr>
          <p:cNvPr id="13" name="Text 11"/>
          <p:cNvSpPr/>
          <p:nvPr/>
        </p:nvSpPr>
        <p:spPr>
          <a:xfrm>
            <a:off x="1665923" y="5113258"/>
            <a:ext cx="3011686"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Conversation History</a:t>
            </a:r>
            <a:endParaRPr lang="en-US" sz="2200" dirty="0"/>
          </a:p>
        </p:txBody>
      </p:sp>
      <p:sp>
        <p:nvSpPr>
          <p:cNvPr id="14" name="Text 12"/>
          <p:cNvSpPr/>
          <p:nvPr/>
        </p:nvSpPr>
        <p:spPr>
          <a:xfrm>
            <a:off x="1665923" y="56118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All chats are saved for future reference. Students can revisit previous explanations when studying for exams.</a:t>
            </a:r>
            <a:endParaRPr lang="en-US" sz="1900" dirty="0"/>
          </a:p>
        </p:txBody>
      </p:sp>
      <p:sp>
        <p:nvSpPr>
          <p:cNvPr id="15" name="Shape 13"/>
          <p:cNvSpPr/>
          <p:nvPr/>
        </p:nvSpPr>
        <p:spPr>
          <a:xfrm>
            <a:off x="7438668" y="5113258"/>
            <a:ext cx="555308" cy="555308"/>
          </a:xfrm>
          <a:prstGeom prst="roundRect">
            <a:avLst>
              <a:gd name="adj" fmla="val 6667"/>
            </a:avLst>
          </a:prstGeom>
          <a:solidFill>
            <a:srgbClr val="F2EEEE"/>
          </a:solidFill>
          <a:ln/>
        </p:spPr>
        <p:txBody>
          <a:bodyPr/>
          <a:lstStyle/>
          <a:p>
            <a:endParaRPr lang="en-US"/>
          </a:p>
        </p:txBody>
      </p:sp>
      <p:sp>
        <p:nvSpPr>
          <p:cNvPr id="16" name="Text 14"/>
          <p:cNvSpPr/>
          <p:nvPr/>
        </p:nvSpPr>
        <p:spPr>
          <a:xfrm>
            <a:off x="7548086" y="51805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23</a:t>
            </a:r>
            <a:endParaRPr lang="en-US" sz="2650" dirty="0"/>
          </a:p>
        </p:txBody>
      </p:sp>
      <p:sp>
        <p:nvSpPr>
          <p:cNvPr id="17" name="Text 15"/>
          <p:cNvSpPr/>
          <p:nvPr/>
        </p:nvSpPr>
        <p:spPr>
          <a:xfrm>
            <a:off x="8240792" y="5113258"/>
            <a:ext cx="280487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24/7 Availability</a:t>
            </a:r>
            <a:endParaRPr lang="en-US" sz="2200" dirty="0"/>
          </a:p>
        </p:txBody>
      </p:sp>
      <p:sp>
        <p:nvSpPr>
          <p:cNvPr id="18" name="Text 16"/>
          <p:cNvSpPr/>
          <p:nvPr/>
        </p:nvSpPr>
        <p:spPr>
          <a:xfrm>
            <a:off x="8240792" y="56118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Learning happens anytime, so our AI assistant never sleeps. Get help with difficult concepts even outside school hours.</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7E1C8-99AB-1B91-1C44-4A52BF683A2C}"/>
              </a:ext>
            </a:extLst>
          </p:cNvPr>
          <p:cNvSpPr>
            <a:spLocks noGrp="1"/>
          </p:cNvSpPr>
          <p:nvPr>
            <p:ph type="title"/>
          </p:nvPr>
        </p:nvSpPr>
        <p:spPr/>
        <p:txBody>
          <a:bodyPr/>
          <a:lstStyle/>
          <a:p>
            <a:r>
              <a:rPr lang="en-US" sz="4000" b="1" kern="0" spc="-44" dirty="0">
                <a:solidFill>
                  <a:srgbClr val="000000"/>
                </a:solidFill>
                <a:latin typeface="Montserrat Bold" pitchFamily="34" charset="0"/>
                <a:ea typeface="Montserrat Bold" pitchFamily="34" charset="-122"/>
                <a:cs typeface="Montserrat Bold" pitchFamily="34" charset="-120"/>
              </a:rPr>
              <a:t>Parent Application</a:t>
            </a:r>
            <a:r>
              <a:rPr lang="en-US" dirty="0"/>
              <a:t> </a:t>
            </a:r>
          </a:p>
        </p:txBody>
      </p:sp>
    </p:spTree>
    <p:extLst>
      <p:ext uri="{BB962C8B-B14F-4D97-AF65-F5344CB8AC3E}">
        <p14:creationId xmlns:p14="http://schemas.microsoft.com/office/powerpoint/2010/main" val="83124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63798" y="1507093"/>
            <a:ext cx="9419868" cy="701278"/>
          </a:xfrm>
          <a:prstGeom prst="rect">
            <a:avLst/>
          </a:prstGeom>
          <a:noFill/>
          <a:ln/>
        </p:spPr>
        <p:txBody>
          <a:bodyPr wrap="non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Parent: Monitor Children Module</a:t>
            </a:r>
            <a:endParaRPr lang="en-US" sz="4400" dirty="0"/>
          </a:p>
        </p:txBody>
      </p:sp>
      <p:sp>
        <p:nvSpPr>
          <p:cNvPr id="3" name="Shape 1"/>
          <p:cNvSpPr/>
          <p:nvPr/>
        </p:nvSpPr>
        <p:spPr>
          <a:xfrm>
            <a:off x="863798" y="2979658"/>
            <a:ext cx="555308" cy="555308"/>
          </a:xfrm>
          <a:prstGeom prst="roundRect">
            <a:avLst>
              <a:gd name="adj" fmla="val 6667"/>
            </a:avLst>
          </a:prstGeom>
          <a:solidFill>
            <a:srgbClr val="F2EEEE"/>
          </a:solidFill>
          <a:ln/>
        </p:spPr>
        <p:txBody>
          <a:bodyPr/>
          <a:lstStyle/>
          <a:p>
            <a:endParaRPr lang="en-US"/>
          </a:p>
        </p:txBody>
      </p:sp>
      <p:sp>
        <p:nvSpPr>
          <p:cNvPr id="4" name="Text 2"/>
          <p:cNvSpPr/>
          <p:nvPr/>
        </p:nvSpPr>
        <p:spPr>
          <a:xfrm>
            <a:off x="973217" y="30469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1</a:t>
            </a:r>
            <a:endParaRPr lang="en-US" sz="2650" dirty="0"/>
          </a:p>
        </p:txBody>
      </p:sp>
      <p:sp>
        <p:nvSpPr>
          <p:cNvPr id="5" name="Text 3"/>
          <p:cNvSpPr/>
          <p:nvPr/>
        </p:nvSpPr>
        <p:spPr>
          <a:xfrm>
            <a:off x="1665923" y="2979658"/>
            <a:ext cx="280487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Child Management</a:t>
            </a:r>
            <a:endParaRPr lang="en-US" sz="2200" dirty="0"/>
          </a:p>
        </p:txBody>
      </p:sp>
      <p:sp>
        <p:nvSpPr>
          <p:cNvPr id="6" name="Text 4"/>
          <p:cNvSpPr/>
          <p:nvPr/>
        </p:nvSpPr>
        <p:spPr>
          <a:xfrm>
            <a:off x="1665923" y="34782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Parents can easily add or remove children from their account. Track multiple students from a single dashboard.</a:t>
            </a:r>
            <a:endParaRPr lang="en-US" sz="1900" dirty="0"/>
          </a:p>
        </p:txBody>
      </p:sp>
      <p:sp>
        <p:nvSpPr>
          <p:cNvPr id="7" name="Shape 5"/>
          <p:cNvSpPr/>
          <p:nvPr/>
        </p:nvSpPr>
        <p:spPr>
          <a:xfrm>
            <a:off x="7438668" y="2979658"/>
            <a:ext cx="555308" cy="555308"/>
          </a:xfrm>
          <a:prstGeom prst="roundRect">
            <a:avLst>
              <a:gd name="adj" fmla="val 6667"/>
            </a:avLst>
          </a:prstGeom>
          <a:solidFill>
            <a:srgbClr val="F2EEEE"/>
          </a:solidFill>
          <a:ln/>
        </p:spPr>
        <p:txBody>
          <a:bodyPr/>
          <a:lstStyle/>
          <a:p>
            <a:endParaRPr lang="en-US"/>
          </a:p>
        </p:txBody>
      </p:sp>
      <p:sp>
        <p:nvSpPr>
          <p:cNvPr id="8" name="Text 6"/>
          <p:cNvSpPr/>
          <p:nvPr/>
        </p:nvSpPr>
        <p:spPr>
          <a:xfrm>
            <a:off x="7548086" y="30469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2</a:t>
            </a:r>
            <a:endParaRPr lang="en-US" sz="2650" dirty="0"/>
          </a:p>
        </p:txBody>
      </p:sp>
      <p:sp>
        <p:nvSpPr>
          <p:cNvPr id="9" name="Text 7"/>
          <p:cNvSpPr/>
          <p:nvPr/>
        </p:nvSpPr>
        <p:spPr>
          <a:xfrm>
            <a:off x="8240792" y="2979658"/>
            <a:ext cx="280487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Academic Progress</a:t>
            </a:r>
            <a:endParaRPr lang="en-US" sz="2200" dirty="0"/>
          </a:p>
        </p:txBody>
      </p:sp>
      <p:sp>
        <p:nvSpPr>
          <p:cNvPr id="10" name="Text 8"/>
          <p:cNvSpPr/>
          <p:nvPr/>
        </p:nvSpPr>
        <p:spPr>
          <a:xfrm>
            <a:off x="8240792" y="34782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Access detailed report cards for each book. View subject-specific performance metrics and completion rates.</a:t>
            </a:r>
            <a:endParaRPr lang="en-US" sz="1900" dirty="0"/>
          </a:p>
        </p:txBody>
      </p:sp>
      <p:sp>
        <p:nvSpPr>
          <p:cNvPr id="11" name="Shape 9"/>
          <p:cNvSpPr/>
          <p:nvPr/>
        </p:nvSpPr>
        <p:spPr>
          <a:xfrm>
            <a:off x="863798" y="5113258"/>
            <a:ext cx="555308" cy="555308"/>
          </a:xfrm>
          <a:prstGeom prst="roundRect">
            <a:avLst>
              <a:gd name="adj" fmla="val 6667"/>
            </a:avLst>
          </a:prstGeom>
          <a:solidFill>
            <a:srgbClr val="F2EEEE"/>
          </a:solidFill>
          <a:ln/>
        </p:spPr>
        <p:txBody>
          <a:bodyPr/>
          <a:lstStyle/>
          <a:p>
            <a:endParaRPr lang="en-US"/>
          </a:p>
        </p:txBody>
      </p:sp>
      <p:sp>
        <p:nvSpPr>
          <p:cNvPr id="12" name="Text 10"/>
          <p:cNvSpPr/>
          <p:nvPr/>
        </p:nvSpPr>
        <p:spPr>
          <a:xfrm>
            <a:off x="973217" y="51805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3</a:t>
            </a:r>
            <a:endParaRPr lang="en-US" sz="2650" dirty="0"/>
          </a:p>
        </p:txBody>
      </p:sp>
      <p:sp>
        <p:nvSpPr>
          <p:cNvPr id="13" name="Text 11"/>
          <p:cNvSpPr/>
          <p:nvPr/>
        </p:nvSpPr>
        <p:spPr>
          <a:xfrm>
            <a:off x="1665923" y="5113258"/>
            <a:ext cx="280487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Activity Tracking</a:t>
            </a:r>
            <a:endParaRPr lang="en-US" sz="2200" dirty="0"/>
          </a:p>
        </p:txBody>
      </p:sp>
      <p:sp>
        <p:nvSpPr>
          <p:cNvPr id="14" name="Text 12"/>
          <p:cNvSpPr/>
          <p:nvPr/>
        </p:nvSpPr>
        <p:spPr>
          <a:xfrm>
            <a:off x="1665923" y="5611892"/>
            <a:ext cx="5525929" cy="74033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Monitor learning engagement in real-time. See time spent on different subjects and completed exercises.</a:t>
            </a:r>
            <a:endParaRPr lang="en-US" sz="1900" dirty="0"/>
          </a:p>
        </p:txBody>
      </p:sp>
      <p:sp>
        <p:nvSpPr>
          <p:cNvPr id="15" name="Shape 13"/>
          <p:cNvSpPr/>
          <p:nvPr/>
        </p:nvSpPr>
        <p:spPr>
          <a:xfrm>
            <a:off x="7438668" y="5113258"/>
            <a:ext cx="555308" cy="555308"/>
          </a:xfrm>
          <a:prstGeom prst="roundRect">
            <a:avLst>
              <a:gd name="adj" fmla="val 6667"/>
            </a:avLst>
          </a:prstGeom>
          <a:solidFill>
            <a:srgbClr val="F2EEEE"/>
          </a:solidFill>
          <a:ln/>
        </p:spPr>
        <p:txBody>
          <a:bodyPr/>
          <a:lstStyle/>
          <a:p>
            <a:endParaRPr lang="en-US"/>
          </a:p>
        </p:txBody>
      </p:sp>
      <p:sp>
        <p:nvSpPr>
          <p:cNvPr id="16" name="Text 14"/>
          <p:cNvSpPr/>
          <p:nvPr/>
        </p:nvSpPr>
        <p:spPr>
          <a:xfrm>
            <a:off x="7548086" y="51805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4</a:t>
            </a:r>
            <a:endParaRPr lang="en-US" sz="2650" dirty="0"/>
          </a:p>
        </p:txBody>
      </p:sp>
      <p:sp>
        <p:nvSpPr>
          <p:cNvPr id="17" name="Text 15"/>
          <p:cNvSpPr/>
          <p:nvPr/>
        </p:nvSpPr>
        <p:spPr>
          <a:xfrm>
            <a:off x="8240792" y="5113258"/>
            <a:ext cx="3094673"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Performance Reports</a:t>
            </a:r>
            <a:endParaRPr lang="en-US" sz="2200" dirty="0"/>
          </a:p>
        </p:txBody>
      </p:sp>
      <p:sp>
        <p:nvSpPr>
          <p:cNvPr id="18" name="Text 16"/>
          <p:cNvSpPr/>
          <p:nvPr/>
        </p:nvSpPr>
        <p:spPr>
          <a:xfrm>
            <a:off x="8240792" y="56118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Receive comprehensive weekly and monthly summaries. Get instant notifications when goals and quizzes are completed.</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63798" y="1507093"/>
            <a:ext cx="6129576" cy="701278"/>
          </a:xfrm>
          <a:prstGeom prst="rect">
            <a:avLst/>
          </a:prstGeom>
          <a:noFill/>
          <a:ln/>
        </p:spPr>
        <p:txBody>
          <a:bodyPr wrap="non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Parent: Goals Module</a:t>
            </a:r>
            <a:endParaRPr lang="en-US" sz="4400" dirty="0"/>
          </a:p>
        </p:txBody>
      </p:sp>
      <p:sp>
        <p:nvSpPr>
          <p:cNvPr id="3" name="Shape 1"/>
          <p:cNvSpPr/>
          <p:nvPr/>
        </p:nvSpPr>
        <p:spPr>
          <a:xfrm>
            <a:off x="863798" y="2979658"/>
            <a:ext cx="555308" cy="555308"/>
          </a:xfrm>
          <a:prstGeom prst="roundRect">
            <a:avLst>
              <a:gd name="adj" fmla="val 6667"/>
            </a:avLst>
          </a:prstGeom>
          <a:solidFill>
            <a:srgbClr val="F2EEEE"/>
          </a:solidFill>
          <a:ln/>
        </p:spPr>
        <p:txBody>
          <a:bodyPr/>
          <a:lstStyle/>
          <a:p>
            <a:endParaRPr lang="en-US" dirty="0"/>
          </a:p>
        </p:txBody>
      </p:sp>
      <p:sp>
        <p:nvSpPr>
          <p:cNvPr id="4" name="Text 2"/>
          <p:cNvSpPr/>
          <p:nvPr/>
        </p:nvSpPr>
        <p:spPr>
          <a:xfrm>
            <a:off x="973217" y="30469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rPr>
              <a:t>5</a:t>
            </a:r>
            <a:endParaRPr lang="en-US" sz="2650" dirty="0"/>
          </a:p>
        </p:txBody>
      </p:sp>
      <p:sp>
        <p:nvSpPr>
          <p:cNvPr id="5" name="Text 3"/>
          <p:cNvSpPr/>
          <p:nvPr/>
        </p:nvSpPr>
        <p:spPr>
          <a:xfrm>
            <a:off x="1665923" y="2979658"/>
            <a:ext cx="280487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Goal Management</a:t>
            </a:r>
            <a:endParaRPr lang="en-US" sz="2200" dirty="0"/>
          </a:p>
        </p:txBody>
      </p:sp>
      <p:sp>
        <p:nvSpPr>
          <p:cNvPr id="6" name="Text 4"/>
          <p:cNvSpPr/>
          <p:nvPr/>
        </p:nvSpPr>
        <p:spPr>
          <a:xfrm>
            <a:off x="1665923" y="34782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Parents can create, modify, and remove personalized academic goals for their children. Goals can be customized based on subjects or specific skills.</a:t>
            </a:r>
            <a:endParaRPr lang="en-US" sz="1900" dirty="0"/>
          </a:p>
        </p:txBody>
      </p:sp>
      <p:sp>
        <p:nvSpPr>
          <p:cNvPr id="7" name="Shape 5"/>
          <p:cNvSpPr/>
          <p:nvPr/>
        </p:nvSpPr>
        <p:spPr>
          <a:xfrm>
            <a:off x="7438668" y="2979658"/>
            <a:ext cx="555308" cy="555308"/>
          </a:xfrm>
          <a:prstGeom prst="roundRect">
            <a:avLst>
              <a:gd name="adj" fmla="val 6667"/>
            </a:avLst>
          </a:prstGeom>
          <a:solidFill>
            <a:srgbClr val="F2EEEE"/>
          </a:solidFill>
          <a:ln/>
        </p:spPr>
        <p:txBody>
          <a:bodyPr/>
          <a:lstStyle/>
          <a:p>
            <a:endParaRPr lang="en-US"/>
          </a:p>
        </p:txBody>
      </p:sp>
      <p:sp>
        <p:nvSpPr>
          <p:cNvPr id="8" name="Text 6"/>
          <p:cNvSpPr/>
          <p:nvPr/>
        </p:nvSpPr>
        <p:spPr>
          <a:xfrm>
            <a:off x="7548086" y="30469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6</a:t>
            </a:r>
            <a:endParaRPr lang="en-US" sz="2650" dirty="0"/>
          </a:p>
        </p:txBody>
      </p:sp>
      <p:sp>
        <p:nvSpPr>
          <p:cNvPr id="9" name="Text 7"/>
          <p:cNvSpPr/>
          <p:nvPr/>
        </p:nvSpPr>
        <p:spPr>
          <a:xfrm>
            <a:off x="8240792" y="2979658"/>
            <a:ext cx="280487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Progress Tracking</a:t>
            </a:r>
            <a:endParaRPr lang="en-US" sz="2200" dirty="0"/>
          </a:p>
        </p:txBody>
      </p:sp>
      <p:sp>
        <p:nvSpPr>
          <p:cNvPr id="10" name="Text 8"/>
          <p:cNvSpPr/>
          <p:nvPr/>
        </p:nvSpPr>
        <p:spPr>
          <a:xfrm>
            <a:off x="8240792" y="34782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Real-time monitoring of children's advancement toward established goals. Visual progress indicators help both parents and children stay motivated.</a:t>
            </a:r>
            <a:endParaRPr lang="en-US" sz="1900" dirty="0"/>
          </a:p>
        </p:txBody>
      </p:sp>
      <p:sp>
        <p:nvSpPr>
          <p:cNvPr id="11" name="Shape 9"/>
          <p:cNvSpPr/>
          <p:nvPr/>
        </p:nvSpPr>
        <p:spPr>
          <a:xfrm>
            <a:off x="863798" y="5113258"/>
            <a:ext cx="555308" cy="555308"/>
          </a:xfrm>
          <a:prstGeom prst="roundRect">
            <a:avLst>
              <a:gd name="adj" fmla="val 6667"/>
            </a:avLst>
          </a:prstGeom>
          <a:solidFill>
            <a:srgbClr val="F2EEEE"/>
          </a:solidFill>
          <a:ln/>
        </p:spPr>
        <p:txBody>
          <a:bodyPr/>
          <a:lstStyle/>
          <a:p>
            <a:endParaRPr lang="en-US"/>
          </a:p>
        </p:txBody>
      </p:sp>
      <p:sp>
        <p:nvSpPr>
          <p:cNvPr id="12" name="Text 10"/>
          <p:cNvSpPr/>
          <p:nvPr/>
        </p:nvSpPr>
        <p:spPr>
          <a:xfrm>
            <a:off x="973217" y="51805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7</a:t>
            </a:r>
            <a:endParaRPr lang="en-US" sz="2650" dirty="0"/>
          </a:p>
        </p:txBody>
      </p:sp>
      <p:sp>
        <p:nvSpPr>
          <p:cNvPr id="13" name="Text 11"/>
          <p:cNvSpPr/>
          <p:nvPr/>
        </p:nvSpPr>
        <p:spPr>
          <a:xfrm>
            <a:off x="1665923" y="5113258"/>
            <a:ext cx="280487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Reward System</a:t>
            </a:r>
            <a:endParaRPr lang="en-US" sz="2200" dirty="0"/>
          </a:p>
        </p:txBody>
      </p:sp>
      <p:sp>
        <p:nvSpPr>
          <p:cNvPr id="14" name="Text 12"/>
          <p:cNvSpPr/>
          <p:nvPr/>
        </p:nvSpPr>
        <p:spPr>
          <a:xfrm>
            <a:off x="1665923" y="56118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Parents assign digital coins for completed goals. These rewards encourage continuous learning and achievement through positive reinforcement.</a:t>
            </a:r>
            <a:endParaRPr lang="en-US" sz="1900" dirty="0"/>
          </a:p>
        </p:txBody>
      </p:sp>
      <p:sp>
        <p:nvSpPr>
          <p:cNvPr id="15" name="Shape 13"/>
          <p:cNvSpPr/>
          <p:nvPr/>
        </p:nvSpPr>
        <p:spPr>
          <a:xfrm>
            <a:off x="7438668" y="5113258"/>
            <a:ext cx="555308" cy="555308"/>
          </a:xfrm>
          <a:prstGeom prst="roundRect">
            <a:avLst>
              <a:gd name="adj" fmla="val 6667"/>
            </a:avLst>
          </a:prstGeom>
          <a:solidFill>
            <a:srgbClr val="F2EEEE"/>
          </a:solidFill>
          <a:ln/>
        </p:spPr>
        <p:txBody>
          <a:bodyPr/>
          <a:lstStyle/>
          <a:p>
            <a:endParaRPr lang="en-US"/>
          </a:p>
        </p:txBody>
      </p:sp>
      <p:sp>
        <p:nvSpPr>
          <p:cNvPr id="16" name="Text 14"/>
          <p:cNvSpPr/>
          <p:nvPr/>
        </p:nvSpPr>
        <p:spPr>
          <a:xfrm>
            <a:off x="7548086" y="51805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8</a:t>
            </a:r>
            <a:endParaRPr lang="en-US" sz="2650" dirty="0"/>
          </a:p>
        </p:txBody>
      </p:sp>
      <p:sp>
        <p:nvSpPr>
          <p:cNvPr id="17" name="Text 15"/>
          <p:cNvSpPr/>
          <p:nvPr/>
        </p:nvSpPr>
        <p:spPr>
          <a:xfrm>
            <a:off x="8240792" y="5113258"/>
            <a:ext cx="3252311"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Achievement Timeline</a:t>
            </a:r>
            <a:endParaRPr lang="en-US" sz="2200" dirty="0"/>
          </a:p>
        </p:txBody>
      </p:sp>
      <p:sp>
        <p:nvSpPr>
          <p:cNvPr id="18" name="Text 16"/>
          <p:cNvSpPr/>
          <p:nvPr/>
        </p:nvSpPr>
        <p:spPr>
          <a:xfrm>
            <a:off x="8240792" y="56118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View history of completed goals and earned rewards. Celebrate learning milestones to build confidence and persistence.</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638E9-0A6C-23A8-6F9E-C1274BD96AE1}"/>
              </a:ext>
            </a:extLst>
          </p:cNvPr>
          <p:cNvSpPr>
            <a:spLocks noGrp="1"/>
          </p:cNvSpPr>
          <p:nvPr>
            <p:ph type="title"/>
          </p:nvPr>
        </p:nvSpPr>
        <p:spPr/>
        <p:txBody>
          <a:bodyPr/>
          <a:lstStyle/>
          <a:p>
            <a:r>
              <a:rPr lang="en-US" sz="4000" b="1" kern="0" spc="-44" dirty="0">
                <a:solidFill>
                  <a:srgbClr val="000000"/>
                </a:solidFill>
                <a:latin typeface="Montserrat Bold" pitchFamily="34" charset="0"/>
                <a:ea typeface="Montserrat Bold" pitchFamily="34" charset="-122"/>
                <a:cs typeface="Montserrat Bold" pitchFamily="34" charset="-120"/>
              </a:rPr>
              <a:t>Teacher Application</a:t>
            </a:r>
            <a:endParaRPr lang="en-US" dirty="0"/>
          </a:p>
        </p:txBody>
      </p:sp>
    </p:spTree>
    <p:extLst>
      <p:ext uri="{BB962C8B-B14F-4D97-AF65-F5344CB8AC3E}">
        <p14:creationId xmlns:p14="http://schemas.microsoft.com/office/powerpoint/2010/main" val="1001744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63798" y="1507093"/>
            <a:ext cx="10426660" cy="701278"/>
          </a:xfrm>
          <a:prstGeom prst="rect">
            <a:avLst/>
          </a:prstGeom>
          <a:noFill/>
          <a:ln/>
        </p:spPr>
        <p:txBody>
          <a:bodyPr wrap="non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Teacher: Class Management Module</a:t>
            </a:r>
            <a:endParaRPr lang="en-US" sz="4400" dirty="0"/>
          </a:p>
        </p:txBody>
      </p:sp>
      <p:sp>
        <p:nvSpPr>
          <p:cNvPr id="3" name="Shape 1"/>
          <p:cNvSpPr/>
          <p:nvPr/>
        </p:nvSpPr>
        <p:spPr>
          <a:xfrm>
            <a:off x="863798" y="2979658"/>
            <a:ext cx="555308" cy="555308"/>
          </a:xfrm>
          <a:prstGeom prst="roundRect">
            <a:avLst>
              <a:gd name="adj" fmla="val 6667"/>
            </a:avLst>
          </a:prstGeom>
          <a:solidFill>
            <a:srgbClr val="F2EEEE"/>
          </a:solidFill>
          <a:ln/>
        </p:spPr>
        <p:txBody>
          <a:bodyPr/>
          <a:lstStyle/>
          <a:p>
            <a:endParaRPr lang="en-US"/>
          </a:p>
        </p:txBody>
      </p:sp>
      <p:sp>
        <p:nvSpPr>
          <p:cNvPr id="4" name="Text 2"/>
          <p:cNvSpPr/>
          <p:nvPr/>
        </p:nvSpPr>
        <p:spPr>
          <a:xfrm>
            <a:off x="973217" y="30469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1</a:t>
            </a:r>
            <a:endParaRPr lang="en-US" sz="2650" dirty="0"/>
          </a:p>
        </p:txBody>
      </p:sp>
      <p:sp>
        <p:nvSpPr>
          <p:cNvPr id="5" name="Text 3"/>
          <p:cNvSpPr/>
          <p:nvPr/>
        </p:nvSpPr>
        <p:spPr>
          <a:xfrm>
            <a:off x="1665923" y="2979658"/>
            <a:ext cx="3467100"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Classroom Organization</a:t>
            </a:r>
            <a:endParaRPr lang="en-US" sz="2200" dirty="0"/>
          </a:p>
        </p:txBody>
      </p:sp>
      <p:sp>
        <p:nvSpPr>
          <p:cNvPr id="6" name="Text 4"/>
          <p:cNvSpPr/>
          <p:nvPr/>
        </p:nvSpPr>
        <p:spPr>
          <a:xfrm>
            <a:off x="1665923" y="34782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Create multiple virtual classrooms with intuitive controls. Add or remove students with simple drag-and-drop functionality.</a:t>
            </a:r>
            <a:endParaRPr lang="en-US" sz="1900" dirty="0"/>
          </a:p>
        </p:txBody>
      </p:sp>
      <p:sp>
        <p:nvSpPr>
          <p:cNvPr id="7" name="Shape 5"/>
          <p:cNvSpPr/>
          <p:nvPr/>
        </p:nvSpPr>
        <p:spPr>
          <a:xfrm>
            <a:off x="7438668" y="2979658"/>
            <a:ext cx="555308" cy="555308"/>
          </a:xfrm>
          <a:prstGeom prst="roundRect">
            <a:avLst>
              <a:gd name="adj" fmla="val 6667"/>
            </a:avLst>
          </a:prstGeom>
          <a:solidFill>
            <a:srgbClr val="F2EEEE"/>
          </a:solidFill>
          <a:ln/>
        </p:spPr>
        <p:txBody>
          <a:bodyPr/>
          <a:lstStyle/>
          <a:p>
            <a:endParaRPr lang="en-US"/>
          </a:p>
        </p:txBody>
      </p:sp>
      <p:sp>
        <p:nvSpPr>
          <p:cNvPr id="8" name="Text 6"/>
          <p:cNvSpPr/>
          <p:nvPr/>
        </p:nvSpPr>
        <p:spPr>
          <a:xfrm>
            <a:off x="7548086" y="30469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2</a:t>
            </a:r>
            <a:endParaRPr lang="en-US" sz="2650" dirty="0"/>
          </a:p>
        </p:txBody>
      </p:sp>
      <p:sp>
        <p:nvSpPr>
          <p:cNvPr id="9" name="Text 7"/>
          <p:cNvSpPr/>
          <p:nvPr/>
        </p:nvSpPr>
        <p:spPr>
          <a:xfrm>
            <a:off x="8240792" y="2979658"/>
            <a:ext cx="3183612"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Content Management</a:t>
            </a:r>
            <a:endParaRPr lang="en-US" sz="2200" dirty="0"/>
          </a:p>
        </p:txBody>
      </p:sp>
      <p:sp>
        <p:nvSpPr>
          <p:cNvPr id="10" name="Text 8"/>
          <p:cNvSpPr/>
          <p:nvPr/>
        </p:nvSpPr>
        <p:spPr>
          <a:xfrm>
            <a:off x="8240792" y="34782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Upload and organize learning materials by subject or topic. Modify existing resources to keep content fresh and relevant.</a:t>
            </a:r>
            <a:endParaRPr lang="en-US" sz="1900" dirty="0"/>
          </a:p>
        </p:txBody>
      </p:sp>
      <p:sp>
        <p:nvSpPr>
          <p:cNvPr id="11" name="Shape 9"/>
          <p:cNvSpPr/>
          <p:nvPr/>
        </p:nvSpPr>
        <p:spPr>
          <a:xfrm>
            <a:off x="863798" y="5113258"/>
            <a:ext cx="555308" cy="555308"/>
          </a:xfrm>
          <a:prstGeom prst="roundRect">
            <a:avLst>
              <a:gd name="adj" fmla="val 6667"/>
            </a:avLst>
          </a:prstGeom>
          <a:solidFill>
            <a:srgbClr val="F2EEEE"/>
          </a:solidFill>
          <a:ln/>
        </p:spPr>
        <p:txBody>
          <a:bodyPr/>
          <a:lstStyle/>
          <a:p>
            <a:endParaRPr lang="en-US"/>
          </a:p>
        </p:txBody>
      </p:sp>
      <p:sp>
        <p:nvSpPr>
          <p:cNvPr id="12" name="Text 10"/>
          <p:cNvSpPr/>
          <p:nvPr/>
        </p:nvSpPr>
        <p:spPr>
          <a:xfrm>
            <a:off x="973217" y="51805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3</a:t>
            </a:r>
            <a:endParaRPr lang="en-US" sz="2650" dirty="0"/>
          </a:p>
        </p:txBody>
      </p:sp>
      <p:sp>
        <p:nvSpPr>
          <p:cNvPr id="13" name="Text 11"/>
          <p:cNvSpPr/>
          <p:nvPr/>
        </p:nvSpPr>
        <p:spPr>
          <a:xfrm>
            <a:off x="1665923" y="5113258"/>
            <a:ext cx="2804874"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Assessment Tools</a:t>
            </a:r>
            <a:endParaRPr lang="en-US" sz="2200" dirty="0"/>
          </a:p>
        </p:txBody>
      </p:sp>
      <p:sp>
        <p:nvSpPr>
          <p:cNvPr id="14" name="Text 12"/>
          <p:cNvSpPr/>
          <p:nvPr/>
        </p:nvSpPr>
        <p:spPr>
          <a:xfrm>
            <a:off x="1665923" y="56118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Build customized quizzes using our template library. Create and distribute assignments with automatic grading capabilities.</a:t>
            </a:r>
            <a:endParaRPr lang="en-US" sz="1900" dirty="0"/>
          </a:p>
        </p:txBody>
      </p:sp>
      <p:sp>
        <p:nvSpPr>
          <p:cNvPr id="15" name="Shape 13"/>
          <p:cNvSpPr/>
          <p:nvPr/>
        </p:nvSpPr>
        <p:spPr>
          <a:xfrm>
            <a:off x="7438668" y="5113258"/>
            <a:ext cx="555308" cy="555308"/>
          </a:xfrm>
          <a:prstGeom prst="roundRect">
            <a:avLst>
              <a:gd name="adj" fmla="val 6667"/>
            </a:avLst>
          </a:prstGeom>
          <a:solidFill>
            <a:srgbClr val="F2EEEE"/>
          </a:solidFill>
          <a:ln/>
        </p:spPr>
        <p:txBody>
          <a:bodyPr/>
          <a:lstStyle/>
          <a:p>
            <a:endParaRPr lang="en-US"/>
          </a:p>
        </p:txBody>
      </p:sp>
      <p:sp>
        <p:nvSpPr>
          <p:cNvPr id="16" name="Text 14"/>
          <p:cNvSpPr/>
          <p:nvPr/>
        </p:nvSpPr>
        <p:spPr>
          <a:xfrm>
            <a:off x="7548086" y="5180588"/>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4</a:t>
            </a:r>
            <a:endParaRPr lang="en-US" sz="2650" dirty="0"/>
          </a:p>
        </p:txBody>
      </p:sp>
      <p:sp>
        <p:nvSpPr>
          <p:cNvPr id="17" name="Text 15"/>
          <p:cNvSpPr/>
          <p:nvPr/>
        </p:nvSpPr>
        <p:spPr>
          <a:xfrm>
            <a:off x="8240792" y="5113258"/>
            <a:ext cx="3227308"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Collaborative Features</a:t>
            </a:r>
            <a:endParaRPr lang="en-US" sz="2200" dirty="0"/>
          </a:p>
        </p:txBody>
      </p:sp>
      <p:sp>
        <p:nvSpPr>
          <p:cNvPr id="18" name="Text 16"/>
          <p:cNvSpPr/>
          <p:nvPr/>
        </p:nvSpPr>
        <p:spPr>
          <a:xfrm>
            <a:off x="8240792" y="5611892"/>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Engage in classroom discussions through integrated messaging. Foster peer learning in a secure digital environment.</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63798" y="1322070"/>
            <a:ext cx="8392835" cy="701278"/>
          </a:xfrm>
          <a:prstGeom prst="rect">
            <a:avLst/>
          </a:prstGeom>
          <a:noFill/>
          <a:ln/>
        </p:spPr>
        <p:txBody>
          <a:bodyPr wrap="non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Teacher: Assessment Module</a:t>
            </a:r>
            <a:endParaRPr lang="en-US" sz="4400" dirty="0"/>
          </a:p>
        </p:txBody>
      </p:sp>
      <p:sp>
        <p:nvSpPr>
          <p:cNvPr id="3" name="Shape 1"/>
          <p:cNvSpPr/>
          <p:nvPr/>
        </p:nvSpPr>
        <p:spPr>
          <a:xfrm>
            <a:off x="863798" y="2794635"/>
            <a:ext cx="555308" cy="555308"/>
          </a:xfrm>
          <a:prstGeom prst="roundRect">
            <a:avLst>
              <a:gd name="adj" fmla="val 6667"/>
            </a:avLst>
          </a:prstGeom>
          <a:solidFill>
            <a:srgbClr val="F2EEEE"/>
          </a:solidFill>
          <a:ln/>
        </p:spPr>
        <p:txBody>
          <a:bodyPr/>
          <a:lstStyle/>
          <a:p>
            <a:endParaRPr lang="en-US"/>
          </a:p>
        </p:txBody>
      </p:sp>
      <p:sp>
        <p:nvSpPr>
          <p:cNvPr id="4" name="Text 2"/>
          <p:cNvSpPr/>
          <p:nvPr/>
        </p:nvSpPr>
        <p:spPr>
          <a:xfrm>
            <a:off x="973217" y="2861965"/>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5</a:t>
            </a:r>
            <a:endParaRPr lang="en-US" sz="2650" dirty="0"/>
          </a:p>
        </p:txBody>
      </p:sp>
      <p:sp>
        <p:nvSpPr>
          <p:cNvPr id="5" name="Text 3"/>
          <p:cNvSpPr/>
          <p:nvPr/>
        </p:nvSpPr>
        <p:spPr>
          <a:xfrm>
            <a:off x="1665923" y="2794635"/>
            <a:ext cx="3555921"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Performance Monitoring</a:t>
            </a:r>
            <a:endParaRPr lang="en-US" sz="2200" dirty="0"/>
          </a:p>
        </p:txBody>
      </p:sp>
      <p:sp>
        <p:nvSpPr>
          <p:cNvPr id="6" name="Text 4"/>
          <p:cNvSpPr/>
          <p:nvPr/>
        </p:nvSpPr>
        <p:spPr>
          <a:xfrm>
            <a:off x="1665923" y="3293269"/>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Track individual student progress across all assignments and quizzes. View completion rates and identify learning gaps instantly.</a:t>
            </a:r>
            <a:endParaRPr lang="en-US" sz="1900" dirty="0"/>
          </a:p>
        </p:txBody>
      </p:sp>
      <p:sp>
        <p:nvSpPr>
          <p:cNvPr id="7" name="Shape 5"/>
          <p:cNvSpPr/>
          <p:nvPr/>
        </p:nvSpPr>
        <p:spPr>
          <a:xfrm>
            <a:off x="7438668" y="2794635"/>
            <a:ext cx="555308" cy="555308"/>
          </a:xfrm>
          <a:prstGeom prst="roundRect">
            <a:avLst>
              <a:gd name="adj" fmla="val 6667"/>
            </a:avLst>
          </a:prstGeom>
          <a:solidFill>
            <a:srgbClr val="F2EEEE"/>
          </a:solidFill>
          <a:ln/>
        </p:spPr>
        <p:txBody>
          <a:bodyPr/>
          <a:lstStyle/>
          <a:p>
            <a:endParaRPr lang="en-US"/>
          </a:p>
        </p:txBody>
      </p:sp>
      <p:sp>
        <p:nvSpPr>
          <p:cNvPr id="8" name="Text 6"/>
          <p:cNvSpPr/>
          <p:nvPr/>
        </p:nvSpPr>
        <p:spPr>
          <a:xfrm>
            <a:off x="7548086" y="2861965"/>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6</a:t>
            </a:r>
            <a:endParaRPr lang="en-US" sz="2650" dirty="0"/>
          </a:p>
        </p:txBody>
      </p:sp>
      <p:sp>
        <p:nvSpPr>
          <p:cNvPr id="9" name="Text 7"/>
          <p:cNvSpPr/>
          <p:nvPr/>
        </p:nvSpPr>
        <p:spPr>
          <a:xfrm>
            <a:off x="8240792" y="2794635"/>
            <a:ext cx="2927271"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AI-Powered Insights</a:t>
            </a:r>
            <a:endParaRPr lang="en-US" sz="2200" dirty="0"/>
          </a:p>
        </p:txBody>
      </p:sp>
      <p:sp>
        <p:nvSpPr>
          <p:cNvPr id="10" name="Text 8"/>
          <p:cNvSpPr/>
          <p:nvPr/>
        </p:nvSpPr>
        <p:spPr>
          <a:xfrm>
            <a:off x="8240792" y="3293269"/>
            <a:ext cx="5525929" cy="148066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Machine learning algorithms analyze student data to generate personalized reports. Receive actionable recommendations for each student's unique learning journey.</a:t>
            </a:r>
            <a:endParaRPr lang="en-US" sz="1900" dirty="0"/>
          </a:p>
        </p:txBody>
      </p:sp>
      <p:sp>
        <p:nvSpPr>
          <p:cNvPr id="11" name="Shape 9"/>
          <p:cNvSpPr/>
          <p:nvPr/>
        </p:nvSpPr>
        <p:spPr>
          <a:xfrm>
            <a:off x="863798" y="5298400"/>
            <a:ext cx="555308" cy="555308"/>
          </a:xfrm>
          <a:prstGeom prst="roundRect">
            <a:avLst>
              <a:gd name="adj" fmla="val 6667"/>
            </a:avLst>
          </a:prstGeom>
          <a:solidFill>
            <a:srgbClr val="F2EEEE"/>
          </a:solidFill>
          <a:ln/>
        </p:spPr>
        <p:txBody>
          <a:bodyPr/>
          <a:lstStyle/>
          <a:p>
            <a:endParaRPr lang="en-US"/>
          </a:p>
        </p:txBody>
      </p:sp>
      <p:sp>
        <p:nvSpPr>
          <p:cNvPr id="12" name="Text 10"/>
          <p:cNvSpPr/>
          <p:nvPr/>
        </p:nvSpPr>
        <p:spPr>
          <a:xfrm>
            <a:off x="973217" y="5365730"/>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7</a:t>
            </a:r>
            <a:endParaRPr lang="en-US" sz="2650" dirty="0"/>
          </a:p>
        </p:txBody>
      </p:sp>
      <p:sp>
        <p:nvSpPr>
          <p:cNvPr id="13" name="Text 11"/>
          <p:cNvSpPr/>
          <p:nvPr/>
        </p:nvSpPr>
        <p:spPr>
          <a:xfrm>
            <a:off x="1665923" y="5298400"/>
            <a:ext cx="3377089"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Custom Learning Paths</a:t>
            </a:r>
            <a:endParaRPr lang="en-US" sz="2200" dirty="0"/>
          </a:p>
        </p:txBody>
      </p:sp>
      <p:sp>
        <p:nvSpPr>
          <p:cNvPr id="14" name="Text 12"/>
          <p:cNvSpPr/>
          <p:nvPr/>
        </p:nvSpPr>
        <p:spPr>
          <a:xfrm>
            <a:off x="1665923" y="5797034"/>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Design tailored educational experiences based on performance data. Adjust difficulty levels and content to match each student's abilities.</a:t>
            </a:r>
            <a:endParaRPr lang="en-US" sz="1900" dirty="0"/>
          </a:p>
        </p:txBody>
      </p:sp>
      <p:sp>
        <p:nvSpPr>
          <p:cNvPr id="15" name="Shape 13"/>
          <p:cNvSpPr/>
          <p:nvPr/>
        </p:nvSpPr>
        <p:spPr>
          <a:xfrm>
            <a:off x="7438668" y="5298400"/>
            <a:ext cx="555308" cy="555308"/>
          </a:xfrm>
          <a:prstGeom prst="roundRect">
            <a:avLst>
              <a:gd name="adj" fmla="val 6667"/>
            </a:avLst>
          </a:prstGeom>
          <a:solidFill>
            <a:srgbClr val="F2EEEE"/>
          </a:solidFill>
          <a:ln/>
        </p:spPr>
        <p:txBody>
          <a:bodyPr/>
          <a:lstStyle/>
          <a:p>
            <a:endParaRPr lang="en-US"/>
          </a:p>
        </p:txBody>
      </p:sp>
      <p:sp>
        <p:nvSpPr>
          <p:cNvPr id="16" name="Text 14"/>
          <p:cNvSpPr/>
          <p:nvPr/>
        </p:nvSpPr>
        <p:spPr>
          <a:xfrm>
            <a:off x="7548086" y="5365730"/>
            <a:ext cx="336471" cy="420648"/>
          </a:xfrm>
          <a:prstGeom prst="rect">
            <a:avLst/>
          </a:prstGeom>
          <a:noFill/>
          <a:ln/>
        </p:spPr>
        <p:txBody>
          <a:bodyPr wrap="none" lIns="0" tIns="0" rIns="0" bIns="0" rtlCol="0" anchor="t"/>
          <a:lstStyle/>
          <a:p>
            <a:pPr marL="0" indent="0" algn="ctr">
              <a:lnSpc>
                <a:spcPts val="2650"/>
              </a:lnSpc>
              <a:buNone/>
            </a:pPr>
            <a:r>
              <a:rPr lang="en-US" sz="2650" b="1" kern="0" spc="-27" dirty="0">
                <a:solidFill>
                  <a:srgbClr val="3D3838"/>
                </a:solidFill>
                <a:latin typeface="Montserrat Bold" pitchFamily="34" charset="0"/>
                <a:ea typeface="Montserrat Bold" pitchFamily="34" charset="-122"/>
                <a:cs typeface="Montserrat Bold" pitchFamily="34" charset="-120"/>
              </a:rPr>
              <a:t>8</a:t>
            </a:r>
            <a:endParaRPr lang="en-US" sz="2650" dirty="0"/>
          </a:p>
        </p:txBody>
      </p:sp>
      <p:sp>
        <p:nvSpPr>
          <p:cNvPr id="17" name="Text 15"/>
          <p:cNvSpPr/>
          <p:nvPr/>
        </p:nvSpPr>
        <p:spPr>
          <a:xfrm>
            <a:off x="8240792" y="5298400"/>
            <a:ext cx="2929533" cy="350639"/>
          </a:xfrm>
          <a:prstGeom prst="rect">
            <a:avLst/>
          </a:prstGeom>
          <a:noFill/>
          <a:ln/>
        </p:spPr>
        <p:txBody>
          <a:bodyPr wrap="none" lIns="0" tIns="0" rIns="0" bIns="0" rtlCol="0" anchor="t"/>
          <a:lstStyle/>
          <a:p>
            <a:pPr marL="0" indent="0" algn="l">
              <a:lnSpc>
                <a:spcPts val="2750"/>
              </a:lnSpc>
              <a:buNone/>
            </a:pPr>
            <a:r>
              <a:rPr lang="en-US" sz="2200" b="1" kern="0" spc="-22" dirty="0">
                <a:solidFill>
                  <a:srgbClr val="3D3838"/>
                </a:solidFill>
                <a:latin typeface="Montserrat Bold" pitchFamily="34" charset="0"/>
                <a:ea typeface="Montserrat Bold" pitchFamily="34" charset="-122"/>
                <a:cs typeface="Montserrat Bold" pitchFamily="34" charset="-120"/>
              </a:rPr>
              <a:t>Real-Time Feedback</a:t>
            </a:r>
            <a:endParaRPr lang="en-US" sz="2200" dirty="0"/>
          </a:p>
        </p:txBody>
      </p:sp>
      <p:sp>
        <p:nvSpPr>
          <p:cNvPr id="18" name="Text 16"/>
          <p:cNvSpPr/>
          <p:nvPr/>
        </p:nvSpPr>
        <p:spPr>
          <a:xfrm>
            <a:off x="8240792" y="5797034"/>
            <a:ext cx="5525929"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Pro" pitchFamily="34" charset="0"/>
                <a:ea typeface="Source Sans Pro" pitchFamily="34" charset="-122"/>
                <a:cs typeface="Source Sans Pro" pitchFamily="34" charset="-120"/>
              </a:rPr>
              <a:t>Identify struggling students before they fall behind. Intervene quickly with targeted support exactly when needed.</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nvSpPr>
        <p:spPr>
          <a:xfrm>
            <a:off x="2908726" y="360276"/>
            <a:ext cx="8999393" cy="841800"/>
          </a:xfrm>
          <a:prstGeom prst="rect">
            <a:avLst/>
          </a:prstGeom>
          <a:noFill/>
          <a:ln/>
        </p:spPr>
        <p:txBody>
          <a:bodyPr wrap="squar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Software Design Methodology</a:t>
            </a:r>
            <a:endParaRPr lang="en-US" sz="4400" dirty="0"/>
          </a:p>
        </p:txBody>
      </p:sp>
      <p:sp>
        <p:nvSpPr>
          <p:cNvPr id="4" name="Text 1"/>
          <p:cNvSpPr/>
          <p:nvPr/>
        </p:nvSpPr>
        <p:spPr>
          <a:xfrm>
            <a:off x="1784732" y="1472083"/>
            <a:ext cx="11799065" cy="4840581"/>
          </a:xfrm>
          <a:prstGeom prst="rect">
            <a:avLst/>
          </a:prstGeom>
          <a:noFill/>
          <a:ln/>
        </p:spPr>
        <p:txBody>
          <a:bodyPr wrap="square" lIns="0" tIns="0" rIns="0" bIns="0" rtlCol="0" anchor="t"/>
          <a:lstStyle/>
          <a:p>
            <a:pPr algn="l"/>
            <a:r>
              <a:rPr lang="en-US" sz="2000" dirty="0">
                <a:solidFill>
                  <a:schemeClr val="tx1"/>
                </a:solidFill>
                <a:latin typeface="Times" panose="02020603050405020304" pitchFamily="18" charset="0"/>
                <a:cs typeface="Times" panose="02020603050405020304" pitchFamily="18" charset="0"/>
              </a:rPr>
              <a:t>The design methodology been followed for </a:t>
            </a:r>
            <a:r>
              <a:rPr lang="en-US" sz="2000" b="1" dirty="0" err="1">
                <a:solidFill>
                  <a:schemeClr val="tx1"/>
                </a:solidFill>
                <a:latin typeface="Times" panose="02020603050405020304" pitchFamily="18" charset="0"/>
                <a:cs typeface="Times" panose="02020603050405020304" pitchFamily="18" charset="0"/>
              </a:rPr>
              <a:t>Brain</a:t>
            </a:r>
            <a:r>
              <a:rPr lang="en-US" sz="2000" b="1" dirty="0" err="1">
                <a:latin typeface="Times" panose="02020603050405020304" pitchFamily="18" charset="0"/>
                <a:cs typeface="Times" panose="02020603050405020304" pitchFamily="18" charset="0"/>
              </a:rPr>
              <a:t>Bee</a:t>
            </a:r>
            <a:r>
              <a:rPr lang="en-US" sz="2000" dirty="0">
                <a:solidFill>
                  <a:schemeClr val="tx1"/>
                </a:solidFill>
                <a:latin typeface="Times" panose="02020603050405020304" pitchFamily="18" charset="0"/>
                <a:cs typeface="Times" panose="02020603050405020304" pitchFamily="18" charset="0"/>
              </a:rPr>
              <a:t> is Object-Oriented Programming (OOP). OOP has several advantages discussed below,</a:t>
            </a:r>
          </a:p>
          <a:p>
            <a:pPr algn="l"/>
            <a:endParaRPr lang="en-US" sz="2000" dirty="0">
              <a:solidFill>
                <a:schemeClr val="tx1"/>
              </a:solidFill>
              <a:latin typeface="Times" panose="02020603050405020304" pitchFamily="18" charset="0"/>
              <a:cs typeface="Times" panose="02020603050405020304" pitchFamily="18" charset="0"/>
            </a:endParaRPr>
          </a:p>
          <a:p>
            <a:pPr>
              <a:buFont typeface="Arial" panose="020B0604020202020204" pitchFamily="34" charset="0"/>
              <a:buChar char="•"/>
            </a:pPr>
            <a:r>
              <a:rPr lang="en-US" sz="2000" b="1" dirty="0"/>
              <a:t>Modularity:</a:t>
            </a:r>
            <a:r>
              <a:rPr lang="en-US" sz="2000" dirty="0"/>
              <a:t> Each feature (Flashcards, Battles, AI Quiz Generator) is a separate component that can be developed and tested independently.</a:t>
            </a:r>
          </a:p>
          <a:p>
            <a:pPr>
              <a:buFont typeface="Arial" panose="020B0604020202020204" pitchFamily="34" charset="0"/>
              <a:buChar char="•"/>
            </a:pPr>
            <a:endParaRPr lang="en-US" sz="2000" dirty="0"/>
          </a:p>
          <a:p>
            <a:pPr>
              <a:buFont typeface="Arial" panose="020B0604020202020204" pitchFamily="34" charset="0"/>
              <a:buChar char="•"/>
            </a:pPr>
            <a:r>
              <a:rPr lang="en-US" sz="2000" b="1" dirty="0"/>
              <a:t>Reusability:</a:t>
            </a:r>
            <a:r>
              <a:rPr lang="en-US" sz="2000" dirty="0"/>
              <a:t> Common functionality (like user authentication) is shared across different user classes, reducing code duplication.</a:t>
            </a:r>
          </a:p>
          <a:p>
            <a:pPr>
              <a:buFont typeface="Arial" panose="020B0604020202020204" pitchFamily="34" charset="0"/>
              <a:buChar char="•"/>
            </a:pPr>
            <a:endParaRPr lang="en-US" sz="2000" dirty="0"/>
          </a:p>
          <a:p>
            <a:pPr>
              <a:buFont typeface="Arial" panose="020B0604020202020204" pitchFamily="34" charset="0"/>
              <a:buChar char="•"/>
            </a:pPr>
            <a:r>
              <a:rPr lang="en-US" sz="2000" b="1" dirty="0"/>
              <a:t>Maintainability:</a:t>
            </a:r>
            <a:r>
              <a:rPr lang="en-US" sz="2000" dirty="0"/>
              <a:t> Easy to add or update features, such as new user roles or learning modules, without affecting the whole system.</a:t>
            </a:r>
          </a:p>
          <a:p>
            <a:pPr>
              <a:buFont typeface="Arial" panose="020B0604020202020204" pitchFamily="34" charset="0"/>
              <a:buChar char="•"/>
            </a:pPr>
            <a:endParaRPr lang="en-US" sz="2000" dirty="0"/>
          </a:p>
          <a:p>
            <a:pPr>
              <a:buFont typeface="Arial" panose="020B0604020202020204" pitchFamily="34" charset="0"/>
              <a:buChar char="•"/>
            </a:pPr>
            <a:r>
              <a:rPr lang="en-US" sz="2000" b="1" dirty="0"/>
              <a:t>Scalability:</a:t>
            </a:r>
            <a:r>
              <a:rPr lang="en-US" sz="2000" dirty="0"/>
              <a:t> Supports growth as </a:t>
            </a:r>
            <a:r>
              <a:rPr lang="en-US" sz="2000" dirty="0" err="1"/>
              <a:t>BrainBee</a:t>
            </a:r>
            <a:r>
              <a:rPr lang="en-US" sz="2000" dirty="0"/>
              <a:t> adds more modules or users.</a:t>
            </a:r>
          </a:p>
          <a:p>
            <a:pPr>
              <a:buFont typeface="Arial" panose="020B0604020202020204" pitchFamily="34" charset="0"/>
              <a:buChar char="•"/>
            </a:pPr>
            <a:endParaRPr lang="en-US" sz="2000" dirty="0"/>
          </a:p>
          <a:p>
            <a:pPr>
              <a:buFont typeface="Arial" panose="020B0604020202020204" pitchFamily="34" charset="0"/>
              <a:buChar char="•"/>
            </a:pPr>
            <a:r>
              <a:rPr lang="en-US" sz="2000" b="1" dirty="0"/>
              <a:t>Clear Structure:</a:t>
            </a:r>
            <a:r>
              <a:rPr lang="en-US" sz="2000" dirty="0"/>
              <a:t> Makes it easier for team members to understand, collaborate, and extend the system.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C9B8A-E1F6-1C5C-AAB7-3DFC3A4EF54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6E06E250-C642-C827-F34C-9100042B9238}"/>
              </a:ext>
            </a:extLst>
          </p:cNvPr>
          <p:cNvSpPr/>
          <p:nvPr/>
        </p:nvSpPr>
        <p:spPr>
          <a:xfrm>
            <a:off x="3360418" y="360276"/>
            <a:ext cx="8999393" cy="841800"/>
          </a:xfrm>
          <a:prstGeom prst="rect">
            <a:avLst/>
          </a:prstGeom>
          <a:noFill/>
          <a:ln/>
        </p:spPr>
        <p:txBody>
          <a:bodyPr wrap="square" lIns="0" tIns="0" rIns="0" bIns="0" rtlCol="0" anchor="t"/>
          <a:lstStyle/>
          <a:p>
            <a:pPr marL="0" indent="0" algn="l">
              <a:lnSpc>
                <a:spcPts val="5500"/>
              </a:lnSpc>
              <a:buNone/>
            </a:pPr>
            <a:r>
              <a:rPr lang="en-US" sz="4400" b="1" kern="0" spc="-44" dirty="0">
                <a:solidFill>
                  <a:srgbClr val="000000"/>
                </a:solidFill>
                <a:latin typeface="Montserrat Bold" pitchFamily="34" charset="0"/>
                <a:ea typeface="Montserrat Bold" pitchFamily="34" charset="-122"/>
                <a:cs typeface="Montserrat Bold" pitchFamily="34" charset="-120"/>
              </a:rPr>
              <a:t>Software Design Process</a:t>
            </a:r>
            <a:endParaRPr lang="en-US" sz="4400" dirty="0"/>
          </a:p>
        </p:txBody>
      </p:sp>
      <p:sp>
        <p:nvSpPr>
          <p:cNvPr id="4" name="Text 1">
            <a:extLst>
              <a:ext uri="{FF2B5EF4-FFF2-40B4-BE49-F238E27FC236}">
                <a16:creationId xmlns:a16="http://schemas.microsoft.com/office/drawing/2014/main" id="{962BD5F3-47C5-6B25-C1D4-9983C2174441}"/>
              </a:ext>
            </a:extLst>
          </p:cNvPr>
          <p:cNvSpPr/>
          <p:nvPr/>
        </p:nvSpPr>
        <p:spPr>
          <a:xfrm>
            <a:off x="4192625" y="3959296"/>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sp>
        <p:nvSpPr>
          <p:cNvPr id="6" name="Rectangle 3">
            <a:extLst>
              <a:ext uri="{FF2B5EF4-FFF2-40B4-BE49-F238E27FC236}">
                <a16:creationId xmlns:a16="http://schemas.microsoft.com/office/drawing/2014/main" id="{D8C7C571-4242-9CF2-9574-BDD57570366E}"/>
              </a:ext>
            </a:extLst>
          </p:cNvPr>
          <p:cNvSpPr>
            <a:spLocks noChangeArrowheads="1"/>
          </p:cNvSpPr>
          <p:nvPr/>
        </p:nvSpPr>
        <p:spPr bwMode="auto">
          <a:xfrm>
            <a:off x="421240" y="1732600"/>
            <a:ext cx="1413724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Iterative Development:</a:t>
            </a:r>
            <a:r>
              <a:rPr kumimoji="0" lang="en-US" altLang="en-US" sz="1800" b="0" i="0" u="none" strike="noStrike" cap="none" normalizeH="0" baseline="0" dirty="0">
                <a:ln>
                  <a:noFill/>
                </a:ln>
                <a:solidFill>
                  <a:schemeClr val="tx1"/>
                </a:solidFill>
                <a:effectLst/>
                <a:latin typeface="Arial" panose="020B0604020202020204" pitchFamily="34" charset="0"/>
              </a:rPr>
              <a:t> Allows us to break the project into small sprints (2–3 weeks), each delivering a functional part of the system.</a:t>
            </a: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Early Feedback:</a:t>
            </a:r>
            <a:r>
              <a:rPr kumimoji="0" lang="en-US" altLang="en-US" sz="1800" b="0" i="0" u="none" strike="noStrike" cap="none" normalizeH="0" baseline="0" dirty="0">
                <a:ln>
                  <a:noFill/>
                </a:ln>
                <a:solidFill>
                  <a:schemeClr val="tx1"/>
                </a:solidFill>
                <a:effectLst/>
                <a:latin typeface="Arial" panose="020B0604020202020204" pitchFamily="34" charset="0"/>
              </a:rPr>
              <a:t> Frequent reviews and feedback from our supervisor help us ensure the application stays aligned with user needs.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Modular Scope:</a:t>
            </a:r>
            <a:r>
              <a:rPr kumimoji="0" lang="en-US" altLang="en-US" sz="1800" b="0" i="0" u="none" strike="noStrike" cap="none" normalizeH="0" baseline="0" dirty="0">
                <a:ln>
                  <a:noFill/>
                </a:ln>
                <a:solidFill>
                  <a:schemeClr val="tx1"/>
                </a:solidFill>
                <a:effectLst/>
                <a:latin typeface="Arial" panose="020B0604020202020204" pitchFamily="34" charset="0"/>
              </a:rPr>
              <a:t> Since the app has multiple independent modules (e.g., flashcards, battles, live classes), they can be developed and tested in parallel.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Adaptability:</a:t>
            </a:r>
            <a:r>
              <a:rPr kumimoji="0" lang="en-US" altLang="en-US" sz="1800" b="0" i="0" u="none" strike="noStrike" cap="none" normalizeH="0" baseline="0" dirty="0">
                <a:ln>
                  <a:noFill/>
                </a:ln>
                <a:solidFill>
                  <a:schemeClr val="tx1"/>
                </a:solidFill>
                <a:effectLst/>
                <a:latin typeface="Arial" panose="020B0604020202020204" pitchFamily="34" charset="0"/>
              </a:rPr>
              <a:t> If priorities change or new challenges arise, Agile allows for quick adaptations without reworking the whole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Team Collaboration:</a:t>
            </a:r>
            <a:r>
              <a:rPr kumimoji="0" lang="en-US" altLang="en-US" sz="1800" b="0" i="0" u="none" strike="noStrike" cap="none" normalizeH="0" baseline="0" dirty="0">
                <a:ln>
                  <a:noFill/>
                </a:ln>
                <a:solidFill>
                  <a:schemeClr val="tx1"/>
                </a:solidFill>
                <a:effectLst/>
                <a:latin typeface="Arial" panose="020B0604020202020204" pitchFamily="34" charset="0"/>
              </a:rPr>
              <a:t> Encourages teamwork and clear communication between frontend, backend, and ML developers.</a:t>
            </a:r>
          </a:p>
        </p:txBody>
      </p:sp>
    </p:spTree>
    <p:extLst>
      <p:ext uri="{BB962C8B-B14F-4D97-AF65-F5344CB8AC3E}">
        <p14:creationId xmlns:p14="http://schemas.microsoft.com/office/powerpoint/2010/main" val="2296794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F0F97-5A3D-30A8-3190-65A3A2206826}"/>
              </a:ext>
            </a:extLst>
          </p:cNvPr>
          <p:cNvSpPr>
            <a:spLocks noGrp="1"/>
          </p:cNvSpPr>
          <p:nvPr>
            <p:ph type="title"/>
          </p:nvPr>
        </p:nvSpPr>
        <p:spPr>
          <a:xfrm>
            <a:off x="1745087" y="3534310"/>
            <a:ext cx="10371785" cy="838586"/>
          </a:xfrm>
        </p:spPr>
        <p:txBody>
          <a:bodyPr/>
          <a:lstStyle/>
          <a:p>
            <a:r>
              <a:rPr lang="en-US" sz="4400" b="1" u="sng" dirty="0">
                <a:latin typeface="Times New Roman" panose="02020603050405020304" pitchFamily="18" charset="0"/>
                <a:cs typeface="Times New Roman" panose="02020603050405020304" pitchFamily="18" charset="0"/>
              </a:rPr>
              <a:t>Architecture Diagram</a:t>
            </a:r>
            <a:endParaRPr lang="en-US" dirty="0"/>
          </a:p>
        </p:txBody>
      </p:sp>
    </p:spTree>
    <p:extLst>
      <p:ext uri="{BB962C8B-B14F-4D97-AF65-F5344CB8AC3E}">
        <p14:creationId xmlns:p14="http://schemas.microsoft.com/office/powerpoint/2010/main" val="187525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D2E11-C052-0967-EA68-6D03C439CAEA}"/>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B82E0BCD-6283-3182-71B9-5CF1F0BA9BF0}"/>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8A54EC4F-7AC8-52FD-382C-35DD12D6AE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2470" y="0"/>
            <a:ext cx="5585460" cy="7306945"/>
          </a:xfrm>
          <a:prstGeom prst="rect">
            <a:avLst/>
          </a:prstGeom>
        </p:spPr>
      </p:pic>
    </p:spTree>
    <p:extLst>
      <p:ext uri="{BB962C8B-B14F-4D97-AF65-F5344CB8AC3E}">
        <p14:creationId xmlns:p14="http://schemas.microsoft.com/office/powerpoint/2010/main" val="2299594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B4C3F-3FDB-CB2F-0D63-9B85AEFA7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9D559-158E-05E3-4979-F6F04843F919}"/>
              </a:ext>
            </a:extLst>
          </p:cNvPr>
          <p:cNvSpPr>
            <a:spLocks noGrp="1"/>
          </p:cNvSpPr>
          <p:nvPr>
            <p:ph type="title"/>
          </p:nvPr>
        </p:nvSpPr>
        <p:spPr>
          <a:xfrm>
            <a:off x="1745087" y="3534310"/>
            <a:ext cx="10371785" cy="838586"/>
          </a:xfrm>
        </p:spPr>
        <p:txBody>
          <a:bodyPr/>
          <a:lstStyle/>
          <a:p>
            <a:r>
              <a:rPr lang="en-US" sz="4400" b="1" u="sng" dirty="0">
                <a:latin typeface="Times New Roman" panose="02020603050405020304" pitchFamily="18" charset="0"/>
                <a:cs typeface="Times New Roman" panose="02020603050405020304" pitchFamily="18" charset="0"/>
              </a:rPr>
              <a:t>Activity Diagrams</a:t>
            </a:r>
            <a:endParaRPr lang="en-US" dirty="0"/>
          </a:p>
        </p:txBody>
      </p:sp>
    </p:spTree>
    <p:extLst>
      <p:ext uri="{BB962C8B-B14F-4D97-AF65-F5344CB8AC3E}">
        <p14:creationId xmlns:p14="http://schemas.microsoft.com/office/powerpoint/2010/main" val="2282220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CAE9F-3023-4843-DEF4-B2A1A2475730}"/>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5F1EA672-8B5B-4A62-7874-D58E74628774}"/>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DCA7949A-6D34-D0FD-9BB6-ECD947BA81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8233" y="262740"/>
            <a:ext cx="9987465" cy="5689436"/>
          </a:xfrm>
          <a:prstGeom prst="rect">
            <a:avLst/>
          </a:prstGeom>
        </p:spPr>
      </p:pic>
    </p:spTree>
    <p:extLst>
      <p:ext uri="{BB962C8B-B14F-4D97-AF65-F5344CB8AC3E}">
        <p14:creationId xmlns:p14="http://schemas.microsoft.com/office/powerpoint/2010/main" val="14040702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EDB0E-B2A8-C573-C553-C9E4D87D0148}"/>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C9259593-AE29-678B-93A0-82F184507C3A}"/>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735246A7-B9F3-AA08-5F6E-2780A2F743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7086" y="214107"/>
            <a:ext cx="9276227" cy="6480604"/>
          </a:xfrm>
          <a:prstGeom prst="rect">
            <a:avLst/>
          </a:prstGeom>
        </p:spPr>
      </p:pic>
    </p:spTree>
    <p:extLst>
      <p:ext uri="{BB962C8B-B14F-4D97-AF65-F5344CB8AC3E}">
        <p14:creationId xmlns:p14="http://schemas.microsoft.com/office/powerpoint/2010/main" val="83032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A7244-A244-765E-4F54-B117EDB39035}"/>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D6EFC0E7-6CB2-2C22-974E-153EB88718F0}"/>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4B831177-5DA9-E291-F17C-59C32BD2A1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4901" y="273763"/>
            <a:ext cx="6856946" cy="6318500"/>
          </a:xfrm>
          <a:prstGeom prst="rect">
            <a:avLst/>
          </a:prstGeom>
        </p:spPr>
      </p:pic>
    </p:spTree>
    <p:extLst>
      <p:ext uri="{BB962C8B-B14F-4D97-AF65-F5344CB8AC3E}">
        <p14:creationId xmlns:p14="http://schemas.microsoft.com/office/powerpoint/2010/main" val="2339877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274D7-F23B-5CC6-A2CA-F9AFB1C3EFB3}"/>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4FB92591-53A0-A4E5-742E-2F5D4F490072}"/>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9B461970-49CC-0F80-4FE3-9C4622E4F3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225" y="417602"/>
            <a:ext cx="4933950" cy="5524500"/>
          </a:xfrm>
          <a:prstGeom prst="rect">
            <a:avLst/>
          </a:prstGeom>
        </p:spPr>
      </p:pic>
    </p:spTree>
    <p:extLst>
      <p:ext uri="{BB962C8B-B14F-4D97-AF65-F5344CB8AC3E}">
        <p14:creationId xmlns:p14="http://schemas.microsoft.com/office/powerpoint/2010/main" val="317132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652C6-E823-0B24-EAE2-24CC326F1A69}"/>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854229B3-BC2B-81DB-CF7F-9C46F139FD83}"/>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82E848BB-AA6C-B28B-3B3D-4E99D2620E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1138" y="287035"/>
            <a:ext cx="9148124" cy="5805540"/>
          </a:xfrm>
          <a:prstGeom prst="rect">
            <a:avLst/>
          </a:prstGeom>
        </p:spPr>
      </p:pic>
    </p:spTree>
    <p:extLst>
      <p:ext uri="{BB962C8B-B14F-4D97-AF65-F5344CB8AC3E}">
        <p14:creationId xmlns:p14="http://schemas.microsoft.com/office/powerpoint/2010/main" val="3898566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DAFA6-3CA2-4259-B729-7AF649B3A14E}"/>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AF0A53D2-C516-9771-4506-76972530805B}"/>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5D6AA1CD-92DC-D609-8E77-12C962057D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6926" y="378698"/>
            <a:ext cx="9036547" cy="5763695"/>
          </a:xfrm>
          <a:prstGeom prst="rect">
            <a:avLst/>
          </a:prstGeom>
        </p:spPr>
      </p:pic>
    </p:spTree>
    <p:extLst>
      <p:ext uri="{BB962C8B-B14F-4D97-AF65-F5344CB8AC3E}">
        <p14:creationId xmlns:p14="http://schemas.microsoft.com/office/powerpoint/2010/main" val="727186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735FE-1B61-A788-2A01-40FD66A73DD4}"/>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1B23282B-F4D5-BA55-3D46-46D969032D43}"/>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674EF612-0449-5A60-4DB3-B665360CDC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6593" y="390418"/>
            <a:ext cx="8757214" cy="5824109"/>
          </a:xfrm>
          <a:prstGeom prst="rect">
            <a:avLst/>
          </a:prstGeom>
        </p:spPr>
      </p:pic>
    </p:spTree>
    <p:extLst>
      <p:ext uri="{BB962C8B-B14F-4D97-AF65-F5344CB8AC3E}">
        <p14:creationId xmlns:p14="http://schemas.microsoft.com/office/powerpoint/2010/main" val="993605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19FCE-A4A0-E623-9C9A-EF13179B72D0}"/>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65489460-E3C7-3959-D173-2F7265875B77}"/>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9F84B70B-CE22-FE92-9075-E18064194F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3718" y="400693"/>
            <a:ext cx="9122964" cy="5950395"/>
          </a:xfrm>
          <a:prstGeom prst="rect">
            <a:avLst/>
          </a:prstGeom>
        </p:spPr>
      </p:pic>
    </p:spTree>
    <p:extLst>
      <p:ext uri="{BB962C8B-B14F-4D97-AF65-F5344CB8AC3E}">
        <p14:creationId xmlns:p14="http://schemas.microsoft.com/office/powerpoint/2010/main" val="454634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4965C-B0EE-37B1-0401-3F9089B3AFE6}"/>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B86C0295-C934-4EE4-CF6D-108498FD5159}"/>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33DACCD4-51EE-1662-F2C7-39353388CC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0146" y="616450"/>
            <a:ext cx="12070107" cy="5009868"/>
          </a:xfrm>
          <a:prstGeom prst="rect">
            <a:avLst/>
          </a:prstGeom>
        </p:spPr>
      </p:pic>
    </p:spTree>
    <p:extLst>
      <p:ext uri="{BB962C8B-B14F-4D97-AF65-F5344CB8AC3E}">
        <p14:creationId xmlns:p14="http://schemas.microsoft.com/office/powerpoint/2010/main" val="9581870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C823C-E408-6C48-0FA6-8768765D035B}"/>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AB040140-4DA1-88FC-CC09-C77EF2BEBE50}"/>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8D7DE0FD-1ADA-77F8-0B8F-4D62D19B80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0145" y="337711"/>
            <a:ext cx="7416403" cy="6834025"/>
          </a:xfrm>
          <a:prstGeom prst="rect">
            <a:avLst/>
          </a:prstGeom>
        </p:spPr>
      </p:pic>
    </p:spTree>
    <p:extLst>
      <p:ext uri="{BB962C8B-B14F-4D97-AF65-F5344CB8AC3E}">
        <p14:creationId xmlns:p14="http://schemas.microsoft.com/office/powerpoint/2010/main" val="33730851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C9703-CC07-8E8A-44DC-0C588FBA9C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BEF5D-DF35-6340-8C91-8630D0E3F182}"/>
              </a:ext>
            </a:extLst>
          </p:cNvPr>
          <p:cNvSpPr>
            <a:spLocks noGrp="1"/>
          </p:cNvSpPr>
          <p:nvPr>
            <p:ph type="title"/>
          </p:nvPr>
        </p:nvSpPr>
        <p:spPr>
          <a:xfrm>
            <a:off x="1745087" y="3534310"/>
            <a:ext cx="10371785" cy="838586"/>
          </a:xfrm>
        </p:spPr>
        <p:txBody>
          <a:bodyPr/>
          <a:lstStyle/>
          <a:p>
            <a:r>
              <a:rPr lang="en-US" sz="4400" b="1" u="sng" dirty="0">
                <a:latin typeface="Times New Roman" panose="02020603050405020304" pitchFamily="18" charset="0"/>
                <a:cs typeface="Times New Roman" panose="02020603050405020304" pitchFamily="18" charset="0"/>
              </a:rPr>
              <a:t>Class Diagram</a:t>
            </a:r>
            <a:endParaRPr lang="en-US" dirty="0"/>
          </a:p>
        </p:txBody>
      </p:sp>
    </p:spTree>
    <p:extLst>
      <p:ext uri="{BB962C8B-B14F-4D97-AF65-F5344CB8AC3E}">
        <p14:creationId xmlns:p14="http://schemas.microsoft.com/office/powerpoint/2010/main" val="3487462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7DF7-B9F8-9D67-1B93-A44BE858E876}"/>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51CC082E-843B-AB82-3EF4-D5FAA6A8B08E}"/>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EF2274F6-7D61-702F-364A-B5045B70DFD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07086" y="0"/>
            <a:ext cx="6129934" cy="8229600"/>
          </a:xfrm>
          <a:prstGeom prst="rect">
            <a:avLst/>
          </a:prstGeom>
          <a:noFill/>
          <a:ln>
            <a:noFill/>
          </a:ln>
        </p:spPr>
      </p:pic>
    </p:spTree>
    <p:extLst>
      <p:ext uri="{BB962C8B-B14F-4D97-AF65-F5344CB8AC3E}">
        <p14:creationId xmlns:p14="http://schemas.microsoft.com/office/powerpoint/2010/main" val="2982830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14C9D-DC2A-63F4-7240-F12696DB8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20502-FB2E-83A7-4EF4-70782FE4B739}"/>
              </a:ext>
            </a:extLst>
          </p:cNvPr>
          <p:cNvSpPr>
            <a:spLocks noGrp="1"/>
          </p:cNvSpPr>
          <p:nvPr>
            <p:ph type="title"/>
          </p:nvPr>
        </p:nvSpPr>
        <p:spPr>
          <a:xfrm>
            <a:off x="1745087" y="3534310"/>
            <a:ext cx="10371785" cy="838586"/>
          </a:xfrm>
        </p:spPr>
        <p:txBody>
          <a:bodyPr/>
          <a:lstStyle/>
          <a:p>
            <a:r>
              <a:rPr lang="en-US" sz="4400" b="1" u="sng" dirty="0">
                <a:latin typeface="Times New Roman" panose="02020603050405020304" pitchFamily="18" charset="0"/>
                <a:cs typeface="Times New Roman" panose="02020603050405020304" pitchFamily="18" charset="0"/>
              </a:rPr>
              <a:t>Sequence Diagrams</a:t>
            </a:r>
            <a:endParaRPr lang="en-US" dirty="0"/>
          </a:p>
        </p:txBody>
      </p:sp>
    </p:spTree>
    <p:extLst>
      <p:ext uri="{BB962C8B-B14F-4D97-AF65-F5344CB8AC3E}">
        <p14:creationId xmlns:p14="http://schemas.microsoft.com/office/powerpoint/2010/main" val="5359043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1B27B-5F59-A2C6-BA3C-12C0B508C8E3}"/>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1D0DC88C-3547-5F2B-6F1C-6501A7DBE61A}"/>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CBE9393D-7F4A-B0D5-2151-0AE6D61F6E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5267" y="581185"/>
            <a:ext cx="7973571" cy="5456274"/>
          </a:xfrm>
          <a:prstGeom prst="rect">
            <a:avLst/>
          </a:prstGeom>
        </p:spPr>
      </p:pic>
    </p:spTree>
    <p:extLst>
      <p:ext uri="{BB962C8B-B14F-4D97-AF65-F5344CB8AC3E}">
        <p14:creationId xmlns:p14="http://schemas.microsoft.com/office/powerpoint/2010/main" val="3013885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C26F1-56A3-B694-581D-895005C9983A}"/>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9D2A9AC6-B3CD-258C-378D-CCBD84D99871}"/>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F7068379-0125-FEA2-6078-728709EDDA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0723" y="277404"/>
            <a:ext cx="7463549" cy="6649416"/>
          </a:xfrm>
          <a:prstGeom prst="rect">
            <a:avLst/>
          </a:prstGeom>
        </p:spPr>
      </p:pic>
    </p:spTree>
    <p:extLst>
      <p:ext uri="{BB962C8B-B14F-4D97-AF65-F5344CB8AC3E}">
        <p14:creationId xmlns:p14="http://schemas.microsoft.com/office/powerpoint/2010/main" val="39449150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78A1D-D2D8-3E6F-442D-6FA8C28BA43E}"/>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378D0396-D218-BE6F-790F-1A3F6335AF3B}"/>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FEC20AB3-4822-BFC5-A5F2-4ECB0A9475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8854" y="493159"/>
            <a:ext cx="8232692" cy="6214099"/>
          </a:xfrm>
          <a:prstGeom prst="rect">
            <a:avLst/>
          </a:prstGeom>
        </p:spPr>
      </p:pic>
    </p:spTree>
    <p:extLst>
      <p:ext uri="{BB962C8B-B14F-4D97-AF65-F5344CB8AC3E}">
        <p14:creationId xmlns:p14="http://schemas.microsoft.com/office/powerpoint/2010/main" val="25627340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80C34-6062-2409-EBE3-6C8D3FA02993}"/>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F18269AE-E820-A8D3-303E-1FA6B86EC7FE}"/>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586122F6-41F9-1989-75EB-B66CA351C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9318" y="372965"/>
            <a:ext cx="8591764" cy="6003220"/>
          </a:xfrm>
          <a:prstGeom prst="rect">
            <a:avLst/>
          </a:prstGeom>
        </p:spPr>
      </p:pic>
    </p:spTree>
    <p:extLst>
      <p:ext uri="{BB962C8B-B14F-4D97-AF65-F5344CB8AC3E}">
        <p14:creationId xmlns:p14="http://schemas.microsoft.com/office/powerpoint/2010/main" val="101668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6B452-6776-6F09-8233-14A3221B6CC8}"/>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29F3E9D9-885C-5759-FC0E-DFDBE8A8949C}"/>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3353868C-6F45-C0D9-5047-A8EC8907EE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1493" y="369870"/>
            <a:ext cx="7881120" cy="6011880"/>
          </a:xfrm>
          <a:prstGeom prst="rect">
            <a:avLst/>
          </a:prstGeom>
        </p:spPr>
      </p:pic>
    </p:spTree>
    <p:extLst>
      <p:ext uri="{BB962C8B-B14F-4D97-AF65-F5344CB8AC3E}">
        <p14:creationId xmlns:p14="http://schemas.microsoft.com/office/powerpoint/2010/main" val="2649224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AEED0-EFF9-C3E7-65AA-13DACD3A671A}"/>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0ACC09C9-3630-DE9F-76B8-15496D4A6BDB}"/>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A1967EF7-8575-E7A9-00C0-9CC9485C7E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1282" y="215757"/>
            <a:ext cx="7867835" cy="6265688"/>
          </a:xfrm>
          <a:prstGeom prst="rect">
            <a:avLst/>
          </a:prstGeom>
        </p:spPr>
      </p:pic>
    </p:spTree>
    <p:extLst>
      <p:ext uri="{BB962C8B-B14F-4D97-AF65-F5344CB8AC3E}">
        <p14:creationId xmlns:p14="http://schemas.microsoft.com/office/powerpoint/2010/main" val="15707124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A5068-FA3F-A1B7-01DC-E04DCE767754}"/>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5710B6CD-5F06-FD10-5FAE-C7A818DC4B38}"/>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D32A1D68-51A2-12F9-432A-44E56786C1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5149" y="390418"/>
            <a:ext cx="7993807" cy="5764765"/>
          </a:xfrm>
          <a:prstGeom prst="rect">
            <a:avLst/>
          </a:prstGeom>
        </p:spPr>
      </p:pic>
    </p:spTree>
    <p:extLst>
      <p:ext uri="{BB962C8B-B14F-4D97-AF65-F5344CB8AC3E}">
        <p14:creationId xmlns:p14="http://schemas.microsoft.com/office/powerpoint/2010/main" val="11963205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68B8B-AD96-0857-C6BC-35959A25C678}"/>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1575652C-1D3B-1A2A-DEE7-5ED957E625F0}"/>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CD867770-9253-003F-35CE-9637CBC80B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7124" y="373360"/>
            <a:ext cx="8756151" cy="6005822"/>
          </a:xfrm>
          <a:prstGeom prst="rect">
            <a:avLst/>
          </a:prstGeom>
        </p:spPr>
      </p:pic>
    </p:spTree>
    <p:extLst>
      <p:ext uri="{BB962C8B-B14F-4D97-AF65-F5344CB8AC3E}">
        <p14:creationId xmlns:p14="http://schemas.microsoft.com/office/powerpoint/2010/main" val="16368537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E0ED6-E137-837C-7163-357D9DF88DFF}"/>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3A8FC301-AD0B-3703-2D18-99C618D8BEC0}"/>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5A075F76-65D5-CBA6-47BD-944408D2B6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6205" y="258887"/>
            <a:ext cx="8577990" cy="6296025"/>
          </a:xfrm>
          <a:prstGeom prst="rect">
            <a:avLst/>
          </a:prstGeom>
        </p:spPr>
      </p:pic>
    </p:spTree>
    <p:extLst>
      <p:ext uri="{BB962C8B-B14F-4D97-AF65-F5344CB8AC3E}">
        <p14:creationId xmlns:p14="http://schemas.microsoft.com/office/powerpoint/2010/main" val="3487688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4E487-494E-73C8-5385-AFBC59E4C03C}"/>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427546F4-2AAD-FF1C-4A53-77EB55242D8E}"/>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5203F335-2C55-2AEA-2CFD-14C16DFA64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1431" y="513708"/>
            <a:ext cx="9447538" cy="5253679"/>
          </a:xfrm>
          <a:prstGeom prst="rect">
            <a:avLst/>
          </a:prstGeom>
        </p:spPr>
      </p:pic>
    </p:spTree>
    <p:extLst>
      <p:ext uri="{BB962C8B-B14F-4D97-AF65-F5344CB8AC3E}">
        <p14:creationId xmlns:p14="http://schemas.microsoft.com/office/powerpoint/2010/main" val="36883901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5CA8E-4F57-DA24-65A9-2A795C36C986}"/>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6DADDAFE-4DA7-8EBF-EF80-B4E2469C69A3}"/>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C436A48E-2EBF-3AEB-DD06-3A5055A286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0229" y="390419"/>
            <a:ext cx="9269941" cy="5481744"/>
          </a:xfrm>
          <a:prstGeom prst="rect">
            <a:avLst/>
          </a:prstGeom>
        </p:spPr>
      </p:pic>
    </p:spTree>
    <p:extLst>
      <p:ext uri="{BB962C8B-B14F-4D97-AF65-F5344CB8AC3E}">
        <p14:creationId xmlns:p14="http://schemas.microsoft.com/office/powerpoint/2010/main" val="24337052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1955B-ECC6-37F1-1088-1F8630D71E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63BC8-F2BA-D9FE-F644-AF16A6E139D7}"/>
              </a:ext>
            </a:extLst>
          </p:cNvPr>
          <p:cNvSpPr>
            <a:spLocks noGrp="1"/>
          </p:cNvSpPr>
          <p:nvPr>
            <p:ph type="title"/>
          </p:nvPr>
        </p:nvSpPr>
        <p:spPr>
          <a:xfrm>
            <a:off x="1745087" y="3534310"/>
            <a:ext cx="10371785" cy="838586"/>
          </a:xfrm>
        </p:spPr>
        <p:txBody>
          <a:bodyPr/>
          <a:lstStyle/>
          <a:p>
            <a:r>
              <a:rPr lang="en-US" sz="4400" b="1" u="sng" dirty="0">
                <a:latin typeface="Times New Roman" panose="02020603050405020304" pitchFamily="18" charset="0"/>
                <a:cs typeface="Times New Roman" panose="02020603050405020304" pitchFamily="18" charset="0"/>
              </a:rPr>
              <a:t>State Transition Diagrams</a:t>
            </a:r>
            <a:endParaRPr lang="en-US" dirty="0"/>
          </a:p>
        </p:txBody>
      </p:sp>
    </p:spTree>
    <p:extLst>
      <p:ext uri="{BB962C8B-B14F-4D97-AF65-F5344CB8AC3E}">
        <p14:creationId xmlns:p14="http://schemas.microsoft.com/office/powerpoint/2010/main" val="28535055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4CA9F-53E1-53DC-36B4-E4B9B63A7F23}"/>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464CF85C-5100-6557-1BCB-673FB130CA0F}"/>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id="{D9807217-BEFC-6FE7-7EEE-C5FC79E19BAF}"/>
              </a:ext>
            </a:extLst>
          </p:cNvPr>
          <p:cNvPicPr>
            <a:picLocks noChangeAspect="1"/>
          </p:cNvPicPr>
          <p:nvPr/>
        </p:nvPicPr>
        <p:blipFill>
          <a:blip r:embed="rId3">
            <a:extLst>
              <a:ext uri="{28A0092B-C50C-407E-A947-70E740481C1C}">
                <a14:useLocalDpi xmlns:a14="http://schemas.microsoft.com/office/drawing/2010/main" val="0"/>
              </a:ext>
            </a:extLst>
          </a:blip>
          <a:srcRect l="6576" r="11616" b="12311"/>
          <a:stretch>
            <a:fillRect/>
          </a:stretch>
        </p:blipFill>
        <p:spPr>
          <a:xfrm>
            <a:off x="2384380" y="1037690"/>
            <a:ext cx="10210961" cy="5246466"/>
          </a:xfrm>
          <a:prstGeom prst="rect">
            <a:avLst/>
          </a:prstGeom>
        </p:spPr>
      </p:pic>
      <p:sp>
        <p:nvSpPr>
          <p:cNvPr id="7" name="TextBox 6">
            <a:extLst>
              <a:ext uri="{FF2B5EF4-FFF2-40B4-BE49-F238E27FC236}">
                <a16:creationId xmlns:a16="http://schemas.microsoft.com/office/drawing/2014/main" id="{6435221B-B670-853C-D228-DBF8A5AB2B55}"/>
              </a:ext>
            </a:extLst>
          </p:cNvPr>
          <p:cNvSpPr txBox="1"/>
          <p:nvPr/>
        </p:nvSpPr>
        <p:spPr>
          <a:xfrm>
            <a:off x="4276618" y="5888983"/>
            <a:ext cx="7320336" cy="395173"/>
          </a:xfrm>
          <a:prstGeom prst="rect">
            <a:avLst/>
          </a:prstGeom>
          <a:noFill/>
        </p:spPr>
        <p:txBody>
          <a:bodyPr wrap="square">
            <a:spAutoFit/>
          </a:bodyPr>
          <a:lstStyle/>
          <a:p>
            <a:pPr marL="0" marR="0" algn="ctr">
              <a:lnSpc>
                <a:spcPct val="115000"/>
              </a:lnSpc>
              <a:spcAft>
                <a:spcPts val="800"/>
              </a:spcAft>
            </a:pPr>
            <a:r>
              <a:rPr lang="en-US" sz="1800" b="1" kern="100" dirty="0">
                <a:effectLst/>
                <a:latin typeface="Aptos" panose="020B0004020202020204" pitchFamily="34" charset="0"/>
                <a:ea typeface="Aptos" panose="020B0004020202020204" pitchFamily="34" charset="0"/>
                <a:cs typeface="Aptos" panose="020B0004020202020204" pitchFamily="34" charset="0"/>
              </a:rPr>
              <a:t>State Transition Diagram for Quiz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4467888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B81C8-97FD-43CE-9C34-BCA6C6827CDE}"/>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DE89D0BD-7953-3127-D112-BE6E20EAE4BF}"/>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2" name="Picture 1">
            <a:extLst>
              <a:ext uri="{FF2B5EF4-FFF2-40B4-BE49-F238E27FC236}">
                <a16:creationId xmlns:a16="http://schemas.microsoft.com/office/drawing/2014/main" id="{EFF1871C-F60B-8CF1-349B-CE52D31061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8368" y="1495318"/>
            <a:ext cx="10753663" cy="2619482"/>
          </a:xfrm>
          <a:prstGeom prst="rect">
            <a:avLst/>
          </a:prstGeom>
        </p:spPr>
      </p:pic>
      <p:sp>
        <p:nvSpPr>
          <p:cNvPr id="6" name="TextBox 5">
            <a:extLst>
              <a:ext uri="{FF2B5EF4-FFF2-40B4-BE49-F238E27FC236}">
                <a16:creationId xmlns:a16="http://schemas.microsoft.com/office/drawing/2014/main" id="{8311A653-6E11-6BF5-0BA9-9B79BD3D3E1B}"/>
              </a:ext>
            </a:extLst>
          </p:cNvPr>
          <p:cNvSpPr txBox="1"/>
          <p:nvPr/>
        </p:nvSpPr>
        <p:spPr>
          <a:xfrm>
            <a:off x="3197831" y="2443086"/>
            <a:ext cx="7320336" cy="395173"/>
          </a:xfrm>
          <a:prstGeom prst="rect">
            <a:avLst/>
          </a:prstGeom>
          <a:noFill/>
        </p:spPr>
        <p:txBody>
          <a:bodyPr wrap="square">
            <a:spAutoFit/>
          </a:bodyPr>
          <a:lstStyle/>
          <a:p>
            <a:pPr marL="0" marR="0" algn="ctr">
              <a:lnSpc>
                <a:spcPct val="115000"/>
              </a:lnSpc>
              <a:spcAft>
                <a:spcPts val="800"/>
              </a:spcAft>
            </a:pPr>
            <a:r>
              <a:rPr lang="en-US" sz="1800" b="1" kern="100" dirty="0">
                <a:solidFill>
                  <a:srgbClr val="000000"/>
                </a:solidFill>
                <a:effectLst/>
                <a:latin typeface="Aptos" panose="020B0004020202020204" pitchFamily="34" charset="0"/>
                <a:ea typeface="Aptos" panose="020B0004020202020204" pitchFamily="34" charset="0"/>
                <a:cs typeface="Aptos" panose="020B0004020202020204" pitchFamily="34" charset="0"/>
              </a:rPr>
              <a:t>State Transition Diagram for Quiz Attempt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043665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420E7-76C0-CCD6-A113-7910A13F5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CCF7F-97D6-FF42-53E4-8C0262EDCD8B}"/>
              </a:ext>
            </a:extLst>
          </p:cNvPr>
          <p:cNvSpPr>
            <a:spLocks noGrp="1"/>
          </p:cNvSpPr>
          <p:nvPr>
            <p:ph type="title"/>
          </p:nvPr>
        </p:nvSpPr>
        <p:spPr>
          <a:xfrm>
            <a:off x="1745087" y="3534310"/>
            <a:ext cx="10371785" cy="838586"/>
          </a:xfrm>
        </p:spPr>
        <p:txBody>
          <a:bodyPr/>
          <a:lstStyle/>
          <a:p>
            <a:r>
              <a:rPr lang="en-US" sz="4400" b="1" u="sng" dirty="0">
                <a:latin typeface="Times New Roman" panose="02020603050405020304" pitchFamily="18" charset="0"/>
                <a:cs typeface="Times New Roman" panose="02020603050405020304" pitchFamily="18" charset="0"/>
              </a:rPr>
              <a:t>Interfaces</a:t>
            </a:r>
            <a:endParaRPr lang="en-US" dirty="0"/>
          </a:p>
        </p:txBody>
      </p:sp>
    </p:spTree>
    <p:extLst>
      <p:ext uri="{BB962C8B-B14F-4D97-AF65-F5344CB8AC3E}">
        <p14:creationId xmlns:p14="http://schemas.microsoft.com/office/powerpoint/2010/main" val="26963163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54FDB-59CC-D62B-E53C-DD466A04EE60}"/>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6023B8FA-2B42-B3D4-1A40-95770CB43F48}"/>
              </a:ext>
            </a:extLst>
          </p:cNvPr>
          <p:cNvSpPr/>
          <p:nvPr/>
        </p:nvSpPr>
        <p:spPr>
          <a:xfrm>
            <a:off x="3863852" y="1637337"/>
            <a:ext cx="7416403" cy="2749729"/>
          </a:xfrm>
          <a:prstGeom prst="rect">
            <a:avLst/>
          </a:prstGeom>
          <a:noFill/>
          <a:ln/>
        </p:spPr>
        <p:txBody>
          <a:bodyPr wrap="square" lIns="0" tIns="0" rIns="0" bIns="0" rtlCol="0" anchor="t"/>
          <a:lstStyle/>
          <a:p>
            <a:pPr marL="457200" lvl="0" indent="-457200" algn="l">
              <a:lnSpc>
                <a:spcPct val="150000"/>
              </a:lnSpc>
              <a:buFont typeface="Arial" panose="020B0604020202020204" pitchFamily="34" charset="0"/>
              <a:buChar char="•"/>
            </a:pPr>
            <a:endParaRPr lang="en-US" sz="2000" dirty="0">
              <a:solidFill>
                <a:schemeClr val="tx1"/>
              </a:solidFill>
              <a:latin typeface="Times" panose="02020603050405020304" pitchFamily="18" charset="0"/>
              <a:cs typeface="Times" panose="02020603050405020304" pitchFamily="18" charset="0"/>
            </a:endParaRPr>
          </a:p>
        </p:txBody>
      </p:sp>
      <p:pic>
        <p:nvPicPr>
          <p:cNvPr id="3" name="Picture 2" descr="A screenshot of a login form&#10;&#10;AI-generated content may be incorrect.">
            <a:extLst>
              <a:ext uri="{FF2B5EF4-FFF2-40B4-BE49-F238E27FC236}">
                <a16:creationId xmlns:a16="http://schemas.microsoft.com/office/drawing/2014/main" id="{CC2A7601-A888-FD56-758B-51374EC7A0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4788" y="155454"/>
            <a:ext cx="3193415" cy="7096760"/>
          </a:xfrm>
          <a:prstGeom prst="rect">
            <a:avLst/>
          </a:prstGeom>
        </p:spPr>
      </p:pic>
      <p:pic>
        <p:nvPicPr>
          <p:cNvPr id="5" name="Picture 4">
            <a:extLst>
              <a:ext uri="{FF2B5EF4-FFF2-40B4-BE49-F238E27FC236}">
                <a16:creationId xmlns:a16="http://schemas.microsoft.com/office/drawing/2014/main" id="{A14DCCFA-1697-9984-26D3-D941BF6FF7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21572" y="155454"/>
            <a:ext cx="3143885" cy="7096760"/>
          </a:xfrm>
          <a:prstGeom prst="rect">
            <a:avLst/>
          </a:prstGeom>
        </p:spPr>
      </p:pic>
      <p:pic>
        <p:nvPicPr>
          <p:cNvPr id="7" name="Picture 6">
            <a:extLst>
              <a:ext uri="{FF2B5EF4-FFF2-40B4-BE49-F238E27FC236}">
                <a16:creationId xmlns:a16="http://schemas.microsoft.com/office/drawing/2014/main" id="{53D600AF-D813-78A7-ED8B-4CEAD4245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48827" y="155454"/>
            <a:ext cx="3187700" cy="7096760"/>
          </a:xfrm>
          <a:prstGeom prst="rect">
            <a:avLst/>
          </a:prstGeom>
        </p:spPr>
      </p:pic>
      <p:pic>
        <p:nvPicPr>
          <p:cNvPr id="8" name="Picture 7">
            <a:extLst>
              <a:ext uri="{FF2B5EF4-FFF2-40B4-BE49-F238E27FC236}">
                <a16:creationId xmlns:a16="http://schemas.microsoft.com/office/drawing/2014/main" id="{D514DDED-6263-EF09-E331-9A74F81F884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877617" y="155454"/>
            <a:ext cx="3231515" cy="7096760"/>
          </a:xfrm>
          <a:prstGeom prst="rect">
            <a:avLst/>
          </a:prstGeom>
        </p:spPr>
      </p:pic>
    </p:spTree>
    <p:extLst>
      <p:ext uri="{BB962C8B-B14F-4D97-AF65-F5344CB8AC3E}">
        <p14:creationId xmlns:p14="http://schemas.microsoft.com/office/powerpoint/2010/main" val="21682333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C27F5-537C-FD78-BE00-F92ABF3E2B2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72DFE3F-0CFB-86F0-9A90-FCAD2042CA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9777" y="133564"/>
            <a:ext cx="3291205" cy="7037798"/>
          </a:xfrm>
          <a:prstGeom prst="rect">
            <a:avLst/>
          </a:prstGeom>
        </p:spPr>
      </p:pic>
      <p:pic>
        <p:nvPicPr>
          <p:cNvPr id="6" name="Picture 5">
            <a:extLst>
              <a:ext uri="{FF2B5EF4-FFF2-40B4-BE49-F238E27FC236}">
                <a16:creationId xmlns:a16="http://schemas.microsoft.com/office/drawing/2014/main" id="{26C4146F-9AFE-C472-4B7D-4037540424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95750" y="133564"/>
            <a:ext cx="3219450" cy="7037798"/>
          </a:xfrm>
          <a:prstGeom prst="rect">
            <a:avLst/>
          </a:prstGeom>
        </p:spPr>
      </p:pic>
      <p:pic>
        <p:nvPicPr>
          <p:cNvPr id="9" name="Picture 8">
            <a:extLst>
              <a:ext uri="{FF2B5EF4-FFF2-40B4-BE49-F238E27FC236}">
                <a16:creationId xmlns:a16="http://schemas.microsoft.com/office/drawing/2014/main" id="{8E64EBA2-075C-86DC-1028-D375EDDF9E6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89968" y="133564"/>
            <a:ext cx="3067050" cy="7037798"/>
          </a:xfrm>
          <a:prstGeom prst="rect">
            <a:avLst/>
          </a:prstGeom>
        </p:spPr>
      </p:pic>
      <p:pic>
        <p:nvPicPr>
          <p:cNvPr id="10" name="Picture 9">
            <a:extLst>
              <a:ext uri="{FF2B5EF4-FFF2-40B4-BE49-F238E27FC236}">
                <a16:creationId xmlns:a16="http://schemas.microsoft.com/office/drawing/2014/main" id="{4451D9E1-965F-C8A3-C33E-6D474E95E9A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131786" y="133564"/>
            <a:ext cx="3188970" cy="7037798"/>
          </a:xfrm>
          <a:prstGeom prst="rect">
            <a:avLst/>
          </a:prstGeom>
        </p:spPr>
      </p:pic>
    </p:spTree>
    <p:extLst>
      <p:ext uri="{BB962C8B-B14F-4D97-AF65-F5344CB8AC3E}">
        <p14:creationId xmlns:p14="http://schemas.microsoft.com/office/powerpoint/2010/main" val="55102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F2B4C-0DE6-0CF3-5D69-4B5BCBAAB15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0EF8013-49F8-B36C-AD85-96A5621B6A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2364" y="91612"/>
            <a:ext cx="3223260" cy="7162800"/>
          </a:xfrm>
          <a:prstGeom prst="rect">
            <a:avLst/>
          </a:prstGeom>
        </p:spPr>
      </p:pic>
      <p:pic>
        <p:nvPicPr>
          <p:cNvPr id="4" name="Picture 3">
            <a:extLst>
              <a:ext uri="{FF2B5EF4-FFF2-40B4-BE49-F238E27FC236}">
                <a16:creationId xmlns:a16="http://schemas.microsoft.com/office/drawing/2014/main" id="{623944A3-0080-2909-AE37-1377B7E0E0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43167" y="91612"/>
            <a:ext cx="3206115" cy="7162800"/>
          </a:xfrm>
          <a:prstGeom prst="rect">
            <a:avLst/>
          </a:prstGeom>
        </p:spPr>
      </p:pic>
      <p:pic>
        <p:nvPicPr>
          <p:cNvPr id="5" name="Picture 4">
            <a:extLst>
              <a:ext uri="{FF2B5EF4-FFF2-40B4-BE49-F238E27FC236}">
                <a16:creationId xmlns:a16="http://schemas.microsoft.com/office/drawing/2014/main" id="{E60A8D71-3144-D4DF-1075-FA65C9B0EC9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46826" y="91612"/>
            <a:ext cx="3385820" cy="7162800"/>
          </a:xfrm>
          <a:prstGeom prst="rect">
            <a:avLst/>
          </a:prstGeom>
        </p:spPr>
      </p:pic>
      <p:pic>
        <p:nvPicPr>
          <p:cNvPr id="7" name="Picture 6">
            <a:extLst>
              <a:ext uri="{FF2B5EF4-FFF2-40B4-BE49-F238E27FC236}">
                <a16:creationId xmlns:a16="http://schemas.microsoft.com/office/drawing/2014/main" id="{01D78E9A-07D6-EB30-EB40-038855E5F67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02527" y="91612"/>
            <a:ext cx="3471545" cy="7162800"/>
          </a:xfrm>
          <a:prstGeom prst="rect">
            <a:avLst/>
          </a:prstGeom>
        </p:spPr>
      </p:pic>
    </p:spTree>
    <p:extLst>
      <p:ext uri="{BB962C8B-B14F-4D97-AF65-F5344CB8AC3E}">
        <p14:creationId xmlns:p14="http://schemas.microsoft.com/office/powerpoint/2010/main" val="26739036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592BE-DC5C-FD17-7DE9-3BC83C231AE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BB951D3-F88F-035B-144F-656178094F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799" y="173724"/>
            <a:ext cx="3390900" cy="7014154"/>
          </a:xfrm>
          <a:prstGeom prst="rect">
            <a:avLst/>
          </a:prstGeom>
        </p:spPr>
      </p:pic>
      <p:pic>
        <p:nvPicPr>
          <p:cNvPr id="6" name="Picture 5">
            <a:extLst>
              <a:ext uri="{FF2B5EF4-FFF2-40B4-BE49-F238E27FC236}">
                <a16:creationId xmlns:a16="http://schemas.microsoft.com/office/drawing/2014/main" id="{6A1E5994-9833-D7D9-3CFC-B51A91E35F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58352" y="173724"/>
            <a:ext cx="3359785" cy="7014154"/>
          </a:xfrm>
          <a:prstGeom prst="rect">
            <a:avLst/>
          </a:prstGeom>
        </p:spPr>
      </p:pic>
      <p:pic>
        <p:nvPicPr>
          <p:cNvPr id="8" name="Picture 7">
            <a:extLst>
              <a:ext uri="{FF2B5EF4-FFF2-40B4-BE49-F238E27FC236}">
                <a16:creationId xmlns:a16="http://schemas.microsoft.com/office/drawing/2014/main" id="{68F7183B-6137-BF30-8843-957EF5735D4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97731" y="173724"/>
            <a:ext cx="3411855" cy="7014154"/>
          </a:xfrm>
          <a:prstGeom prst="rect">
            <a:avLst/>
          </a:prstGeom>
        </p:spPr>
      </p:pic>
      <p:pic>
        <p:nvPicPr>
          <p:cNvPr id="9" name="Picture 8" descr="A screenshot of a cell phone&#10;&#10;AI-generated content may be incorrect.">
            <a:extLst>
              <a:ext uri="{FF2B5EF4-FFF2-40B4-BE49-F238E27FC236}">
                <a16:creationId xmlns:a16="http://schemas.microsoft.com/office/drawing/2014/main" id="{36F911E1-E1F1-DA1E-42B0-52FB766437A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189181" y="173724"/>
            <a:ext cx="3360420" cy="7014154"/>
          </a:xfrm>
          <a:prstGeom prst="rect">
            <a:avLst/>
          </a:prstGeom>
        </p:spPr>
      </p:pic>
    </p:spTree>
    <p:extLst>
      <p:ext uri="{BB962C8B-B14F-4D97-AF65-F5344CB8AC3E}">
        <p14:creationId xmlns:p14="http://schemas.microsoft.com/office/powerpoint/2010/main" val="9703906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250F8-A9DF-E04C-37AF-237DD9F739F7}"/>
            </a:ext>
          </a:extLst>
        </p:cNvPr>
        <p:cNvGrpSpPr/>
        <p:nvPr/>
      </p:nvGrpSpPr>
      <p:grpSpPr>
        <a:xfrm>
          <a:off x="0" y="0"/>
          <a:ext cx="0" cy="0"/>
          <a:chOff x="0" y="0"/>
          <a:chExt cx="0" cy="0"/>
        </a:xfrm>
      </p:grpSpPr>
      <p:pic>
        <p:nvPicPr>
          <p:cNvPr id="3" name="Picture 2" descr="A screenshot of a phone&#10;&#10;AI-generated content may be incorrect.">
            <a:extLst>
              <a:ext uri="{FF2B5EF4-FFF2-40B4-BE49-F238E27FC236}">
                <a16:creationId xmlns:a16="http://schemas.microsoft.com/office/drawing/2014/main" id="{A72278EB-7CB0-1A94-120A-93833C4E86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85557" y="226429"/>
            <a:ext cx="3343275" cy="6938300"/>
          </a:xfrm>
          <a:prstGeom prst="rect">
            <a:avLst/>
          </a:prstGeom>
        </p:spPr>
      </p:pic>
      <p:pic>
        <p:nvPicPr>
          <p:cNvPr id="4" name="Picture 3" descr="A screenshot of a chat&#10;&#10;AI-generated content may be incorrect.">
            <a:extLst>
              <a:ext uri="{FF2B5EF4-FFF2-40B4-BE49-F238E27FC236}">
                <a16:creationId xmlns:a16="http://schemas.microsoft.com/office/drawing/2014/main" id="{5F15BEEB-AFE7-6741-E09E-6D4E87AF8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38352" y="226429"/>
            <a:ext cx="3360420" cy="6938300"/>
          </a:xfrm>
          <a:prstGeom prst="rect">
            <a:avLst/>
          </a:prstGeom>
        </p:spPr>
      </p:pic>
    </p:spTree>
    <p:extLst>
      <p:ext uri="{BB962C8B-B14F-4D97-AF65-F5344CB8AC3E}">
        <p14:creationId xmlns:p14="http://schemas.microsoft.com/office/powerpoint/2010/main" val="24331588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3EC1B-2E91-A51C-9779-6C60A13B894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6C24DE5-B9F1-C4CE-79FD-BC103ACF337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8370" y="729207"/>
            <a:ext cx="11048346" cy="5563344"/>
          </a:xfrm>
          <a:prstGeom prst="rect">
            <a:avLst/>
          </a:prstGeom>
          <a:noFill/>
          <a:ln>
            <a:noFill/>
          </a:ln>
        </p:spPr>
      </p:pic>
    </p:spTree>
    <p:extLst>
      <p:ext uri="{BB962C8B-B14F-4D97-AF65-F5344CB8AC3E}">
        <p14:creationId xmlns:p14="http://schemas.microsoft.com/office/powerpoint/2010/main" val="3518264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137C1-399C-1797-370B-DD5B9D9B666D}"/>
            </a:ext>
          </a:extLst>
        </p:cNvPr>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79E817B0-AB71-926C-9C60-AF37218D90C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0638" y="659759"/>
            <a:ext cx="11049124" cy="5563344"/>
          </a:xfrm>
          <a:prstGeom prst="rect">
            <a:avLst/>
          </a:prstGeom>
          <a:noFill/>
          <a:ln>
            <a:noFill/>
          </a:ln>
        </p:spPr>
      </p:pic>
    </p:spTree>
    <p:extLst>
      <p:ext uri="{BB962C8B-B14F-4D97-AF65-F5344CB8AC3E}">
        <p14:creationId xmlns:p14="http://schemas.microsoft.com/office/powerpoint/2010/main" val="5987416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2E7E4-A734-F906-93BA-8E34ED0BDED2}"/>
            </a:ext>
          </a:extLst>
        </p:cNvPr>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3A84D83F-41AC-AF8F-2A76-409BD72869C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18370" y="729206"/>
            <a:ext cx="11051458" cy="5563344"/>
          </a:xfrm>
          <a:prstGeom prst="rect">
            <a:avLst/>
          </a:prstGeom>
          <a:noFill/>
          <a:ln>
            <a:noFill/>
          </a:ln>
        </p:spPr>
      </p:pic>
    </p:spTree>
    <p:extLst>
      <p:ext uri="{BB962C8B-B14F-4D97-AF65-F5344CB8AC3E}">
        <p14:creationId xmlns:p14="http://schemas.microsoft.com/office/powerpoint/2010/main" val="15310339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0CB6-EAAE-3812-6D3D-7A9F33E43BD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40F6B4E-FFD8-B2A4-7092-50A0DF92FE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17592" y="729208"/>
            <a:ext cx="11048346" cy="5563344"/>
          </a:xfrm>
          <a:prstGeom prst="rect">
            <a:avLst/>
          </a:prstGeom>
          <a:noFill/>
          <a:ln>
            <a:noFill/>
          </a:ln>
        </p:spPr>
      </p:pic>
    </p:spTree>
    <p:extLst>
      <p:ext uri="{BB962C8B-B14F-4D97-AF65-F5344CB8AC3E}">
        <p14:creationId xmlns:p14="http://schemas.microsoft.com/office/powerpoint/2010/main" val="5125630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702F0-8D78-19D7-6EFE-1199E5CA3A4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89322AA-C24F-4CB1-8CBE-0C5F444946F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17592" y="729208"/>
            <a:ext cx="11048346" cy="5563344"/>
          </a:xfrm>
          <a:prstGeom prst="rect">
            <a:avLst/>
          </a:prstGeom>
          <a:noFill/>
          <a:ln>
            <a:noFill/>
          </a:ln>
        </p:spPr>
      </p:pic>
    </p:spTree>
    <p:extLst>
      <p:ext uri="{BB962C8B-B14F-4D97-AF65-F5344CB8AC3E}">
        <p14:creationId xmlns:p14="http://schemas.microsoft.com/office/powerpoint/2010/main" val="7736648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90297-18A9-1796-DF61-B34EF9954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E7571-5E4D-821B-E309-C3ABF789F8F5}"/>
              </a:ext>
            </a:extLst>
          </p:cNvPr>
          <p:cNvSpPr>
            <a:spLocks noGrp="1"/>
          </p:cNvSpPr>
          <p:nvPr>
            <p:ph type="title"/>
          </p:nvPr>
        </p:nvSpPr>
        <p:spPr>
          <a:xfrm>
            <a:off x="1745087" y="3534310"/>
            <a:ext cx="10371785" cy="838586"/>
          </a:xfrm>
        </p:spPr>
        <p:txBody>
          <a:bodyPr/>
          <a:lstStyle/>
          <a:p>
            <a:r>
              <a:rPr lang="en-US" sz="4400" b="1" u="sng" dirty="0" err="1">
                <a:latin typeface="Times New Roman" panose="02020603050405020304" pitchFamily="18" charset="0"/>
                <a:cs typeface="Times New Roman" panose="02020603050405020304" pitchFamily="18" charset="0"/>
              </a:rPr>
              <a:t>COnclusion</a:t>
            </a:r>
            <a:endParaRPr lang="en-US" dirty="0"/>
          </a:p>
        </p:txBody>
      </p:sp>
    </p:spTree>
    <p:extLst>
      <p:ext uri="{BB962C8B-B14F-4D97-AF65-F5344CB8AC3E}">
        <p14:creationId xmlns:p14="http://schemas.microsoft.com/office/powerpoint/2010/main" val="11774999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637B9-B79D-C7C3-3B33-5714B509E5EE}"/>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B7AB4026-117C-09FB-1760-D8BF576915B0}"/>
              </a:ext>
            </a:extLst>
          </p:cNvPr>
          <p:cNvSpPr>
            <a:spLocks noChangeArrowheads="1"/>
          </p:cNvSpPr>
          <p:nvPr/>
        </p:nvSpPr>
        <p:spPr bwMode="auto">
          <a:xfrm>
            <a:off x="1112704" y="952405"/>
            <a:ext cx="12812617"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BrainBee</a:t>
            </a:r>
            <a:r>
              <a:rPr kumimoji="0" lang="en-US" altLang="en-US" sz="1800" b="0" i="0" u="none" strike="noStrike" cap="none" normalizeH="0" baseline="0" dirty="0">
                <a:ln>
                  <a:noFill/>
                </a:ln>
                <a:solidFill>
                  <a:schemeClr val="tx1"/>
                </a:solidFill>
                <a:effectLst/>
                <a:latin typeface="Arial" panose="020B0604020202020204" pitchFamily="34" charset="0"/>
              </a:rPr>
              <a:t> is an AI-powered educational platform focused on personalized learning for students from Class 5 to 12.</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simplifies learning through features like </a:t>
            </a:r>
            <a:r>
              <a:rPr kumimoji="0" lang="en-US" altLang="en-US" sz="1800" b="1" i="0" u="none" strike="noStrike" cap="none" normalizeH="0" baseline="0" dirty="0">
                <a:ln>
                  <a:noFill/>
                </a:ln>
                <a:solidFill>
                  <a:schemeClr val="tx1"/>
                </a:solidFill>
                <a:effectLst/>
                <a:latin typeface="Arial" panose="020B0604020202020204" pitchFamily="34" charset="0"/>
              </a:rPr>
              <a:t>AI-generated flashcards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adaptive quizzes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peer battles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parent/teacher monitoring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is built using a </a:t>
            </a:r>
            <a:r>
              <a:rPr kumimoji="0" lang="en-US" altLang="en-US" sz="1800" b="1" i="0" u="none" strike="noStrike" cap="none" normalizeH="0" baseline="0" dirty="0">
                <a:ln>
                  <a:noFill/>
                </a:ln>
                <a:solidFill>
                  <a:schemeClr val="tx1"/>
                </a:solidFill>
                <a:effectLst/>
                <a:latin typeface="Arial" panose="020B0604020202020204" pitchFamily="34" charset="0"/>
              </a:rPr>
              <a:t>Modular + MVC Software Design Methodology</a:t>
            </a:r>
            <a:r>
              <a:rPr kumimoji="0" lang="en-US" altLang="en-US" sz="1800" b="0" i="0" u="none" strike="noStrike" cap="none" normalizeH="0" baseline="0" dirty="0">
                <a:ln>
                  <a:noFill/>
                </a:ln>
                <a:solidFill>
                  <a:schemeClr val="tx1"/>
                </a:solidFill>
                <a:effectLst/>
                <a:latin typeface="Arial" panose="020B0604020202020204" pitchFamily="34" charset="0"/>
              </a:rPr>
              <a:t> and follows the </a:t>
            </a:r>
            <a:r>
              <a:rPr kumimoji="0" lang="en-US" altLang="en-US" sz="1800" b="1" i="0" u="none" strike="noStrike" cap="none" normalizeH="0" baseline="0" dirty="0">
                <a:ln>
                  <a:noFill/>
                </a:ln>
                <a:solidFill>
                  <a:schemeClr val="tx1"/>
                </a:solidFill>
                <a:effectLst/>
                <a:latin typeface="Arial" panose="020B0604020202020204" pitchFamily="34" charset="0"/>
              </a:rPr>
              <a:t>Agile process</a:t>
            </a:r>
            <a:r>
              <a:rPr kumimoji="0" lang="en-US" altLang="en-US" sz="1800" b="0" i="0" u="none" strike="noStrike" cap="none" normalizeH="0" baseline="0" dirty="0">
                <a:ln>
                  <a:noFill/>
                </a:ln>
                <a:solidFill>
                  <a:schemeClr val="tx1"/>
                </a:solidFill>
                <a:effectLst/>
                <a:latin typeface="Arial" panose="020B0604020202020204" pitchFamily="34" charset="0"/>
              </a:rPr>
              <a:t> for iterative development.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Technologies used include </a:t>
            </a:r>
            <a:r>
              <a:rPr kumimoji="0" lang="en-US" altLang="en-US" sz="1800" b="1" i="0" u="none" strike="noStrike" cap="none" normalizeH="0" baseline="0" dirty="0">
                <a:ln>
                  <a:noFill/>
                </a:ln>
                <a:solidFill>
                  <a:schemeClr val="tx1"/>
                </a:solidFill>
                <a:effectLst/>
                <a:latin typeface="Arial" panose="020B0604020202020204" pitchFamily="34" charset="0"/>
              </a:rPr>
              <a:t>MongoDB</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Cloudinary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Firebase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ML libraries</a:t>
            </a:r>
            <a:r>
              <a:rPr kumimoji="0" lang="en-US" altLang="en-US" sz="1800" b="0" i="0" u="none" strike="noStrike" cap="none" normalizeH="0" baseline="0" dirty="0">
                <a:ln>
                  <a:noFill/>
                </a:ln>
                <a:solidFill>
                  <a:schemeClr val="tx1"/>
                </a:solidFill>
                <a:effectLst/>
                <a:latin typeface="Arial" panose="020B0604020202020204" pitchFamily="34" charset="0"/>
              </a:rPr>
              <a:t> like </a:t>
            </a:r>
            <a:r>
              <a:rPr kumimoji="0" lang="en-US" altLang="en-US" sz="1800" b="1" i="0" u="none" strike="noStrike" cap="none" normalizeH="0" baseline="0" dirty="0">
                <a:ln>
                  <a:noFill/>
                </a:ln>
                <a:solidFill>
                  <a:schemeClr val="tx1"/>
                </a:solidFill>
                <a:effectLst/>
                <a:latin typeface="Arial" panose="020B0604020202020204" pitchFamily="34" charset="0"/>
              </a:rPr>
              <a:t>scikit-learn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spaCy</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Hugging Face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 major diagrams — </a:t>
            </a:r>
            <a:r>
              <a:rPr kumimoji="0" lang="en-US" altLang="en-US" sz="1800" b="1" i="0" u="none" strike="noStrike" cap="none" normalizeH="0" baseline="0" dirty="0">
                <a:ln>
                  <a:noFill/>
                </a:ln>
                <a:solidFill>
                  <a:schemeClr val="tx1"/>
                </a:solidFill>
                <a:effectLst/>
                <a:latin typeface="Arial" panose="020B0604020202020204" pitchFamily="34" charset="0"/>
              </a:rPr>
              <a:t>Architectural</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Activity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Sequence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Class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State Transition Diagrams</a:t>
            </a:r>
            <a:r>
              <a:rPr kumimoji="0" lang="en-US" altLang="en-US" sz="1800" b="0" i="0" u="none" strike="noStrike" cap="none" normalizeH="0" baseline="0" dirty="0">
                <a:ln>
                  <a:noFill/>
                </a:ln>
                <a:solidFill>
                  <a:schemeClr val="tx1"/>
                </a:solidFill>
                <a:effectLst/>
                <a:latin typeface="Arial" panose="020B0604020202020204" pitchFamily="34" charset="0"/>
              </a:rPr>
              <a:t> — are included to depict system flow and behavior.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State Transition Diagrams</a:t>
            </a:r>
            <a:r>
              <a:rPr kumimoji="0" lang="en-US" altLang="en-US" sz="1800" b="0" i="0" u="none" strike="noStrike" cap="none" normalizeH="0" baseline="0" dirty="0">
                <a:ln>
                  <a:noFill/>
                </a:ln>
                <a:solidFill>
                  <a:schemeClr val="tx1"/>
                </a:solidFill>
                <a:effectLst/>
                <a:latin typeface="Arial" panose="020B0604020202020204" pitchFamily="34" charset="0"/>
              </a:rPr>
              <a:t> clearly explain how users move between different app states like login, learning, testing, reviewing, and tracking progress.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BrainBee</a:t>
            </a:r>
            <a:r>
              <a:rPr kumimoji="0" lang="en-US" altLang="en-US" sz="1800" b="0" i="0" u="none" strike="noStrike" cap="none" normalizeH="0" baseline="0" dirty="0">
                <a:ln>
                  <a:noFill/>
                </a:ln>
                <a:solidFill>
                  <a:schemeClr val="tx1"/>
                </a:solidFill>
                <a:effectLst/>
                <a:latin typeface="Arial" panose="020B0604020202020204" pitchFamily="34" charset="0"/>
              </a:rPr>
              <a:t> offers a smart, interactive, and scalable solution to modern education by merging </a:t>
            </a:r>
            <a:r>
              <a:rPr kumimoji="0" lang="en-US" altLang="en-US" sz="1800" b="1" i="0" u="none" strike="noStrike" cap="none" normalizeH="0" baseline="0" dirty="0">
                <a:ln>
                  <a:noFill/>
                </a:ln>
                <a:solidFill>
                  <a:schemeClr val="tx1"/>
                </a:solidFill>
                <a:effectLst/>
                <a:latin typeface="Arial" panose="020B0604020202020204" pitchFamily="34" charset="0"/>
              </a:rPr>
              <a:t>AI with meaningful user experience</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5298953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4" name="TextBox 3"/>
          <p:cNvSpPr txBox="1"/>
          <p:nvPr/>
        </p:nvSpPr>
        <p:spPr>
          <a:xfrm>
            <a:off x="3236422" y="1850973"/>
            <a:ext cx="8224058" cy="437364"/>
          </a:xfrm>
          <a:prstGeom prst="rect">
            <a:avLst/>
          </a:prstGeom>
          <a:noFill/>
        </p:spPr>
        <p:txBody>
          <a:bodyPr wrap="square" rtlCol="0">
            <a:spAutoFit/>
          </a:bodyPr>
          <a:lstStyle/>
          <a:p>
            <a:endParaRPr lang="en-US" sz="2242" dirty="0"/>
          </a:p>
        </p:txBody>
      </p:sp>
      <p:sp>
        <p:nvSpPr>
          <p:cNvPr id="2" name="TextBox 1"/>
          <p:cNvSpPr txBox="1"/>
          <p:nvPr/>
        </p:nvSpPr>
        <p:spPr>
          <a:xfrm>
            <a:off x="4655131" y="3790607"/>
            <a:ext cx="4621392" cy="880241"/>
          </a:xfrm>
          <a:prstGeom prst="rect">
            <a:avLst/>
          </a:prstGeom>
          <a:noFill/>
        </p:spPr>
        <p:txBody>
          <a:bodyPr wrap="square" rtlCol="0">
            <a:spAutoFit/>
          </a:bodyPr>
          <a:lstStyle/>
          <a:p>
            <a:r>
              <a:rPr lang="en-US" sz="5120" b="1" dirty="0"/>
              <a:t>THANK YOU!</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122</TotalTime>
  <Words>1562</Words>
  <Application>Microsoft Office PowerPoint</Application>
  <PresentationFormat>Custom</PresentationFormat>
  <Paragraphs>241</Paragraphs>
  <Slides>64</Slides>
  <Notes>54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Times</vt:lpstr>
      <vt:lpstr>Times New Roman</vt:lpstr>
      <vt:lpstr>Arial</vt:lpstr>
      <vt:lpstr>Montserrat Bold</vt:lpstr>
      <vt:lpstr>Open Sans</vt:lpstr>
      <vt:lpstr>Aptos</vt:lpstr>
      <vt:lpstr>Source Sans Pro</vt:lpstr>
      <vt:lpstr>Gill Sans MT</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Parent Application </vt:lpstr>
      <vt:lpstr>PowerPoint Presentation</vt:lpstr>
      <vt:lpstr>PowerPoint Presentation</vt:lpstr>
      <vt:lpstr>Teacher Application</vt:lpstr>
      <vt:lpstr>PowerPoint Presentation</vt:lpstr>
      <vt:lpstr>PowerPoint Presentation</vt:lpstr>
      <vt:lpstr>PowerPoint Presentation</vt:lpstr>
      <vt:lpstr>PowerPoint Presentation</vt:lpstr>
      <vt:lpstr>Architecture Diagram</vt:lpstr>
      <vt:lpstr>PowerPoint Presentation</vt:lpstr>
      <vt:lpstr>Activity Diagrams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 Diagram</vt:lpstr>
      <vt:lpstr>PowerPoint Presentation</vt:lpstr>
      <vt:lpstr>Sequence Diagrams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State Transition Diagrams</vt:lpstr>
      <vt:lpstr>PowerPoint Presentation</vt:lpstr>
      <vt:lpstr>PowerPoint Presentation</vt:lpstr>
      <vt:lpstr>Interfaces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(SP22-BCS-077)NASIRSHAHZAD</cp:lastModifiedBy>
  <cp:revision>66</cp:revision>
  <dcterms:created xsi:type="dcterms:W3CDTF">2025-03-16T07:25:18Z</dcterms:created>
  <dcterms:modified xsi:type="dcterms:W3CDTF">2025-05-25T17:25:36Z</dcterms:modified>
</cp:coreProperties>
</file>